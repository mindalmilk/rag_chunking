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960120"/>
            <a:ext cx="10744200" cy="11887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Сравнение различных стратегий чанкирования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для RAG-системы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49808" y="2331720"/>
            <a:ext cx="4754880" cy="34747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AB6C5"/>
                </a:solidFill>
              </a:rPr>
              <a:t>Проект по глубокому обучению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931920"/>
            <a:ext cx="1481328" cy="594360"/>
          </a:xfrm>
          <a:prstGeom prst="roundRect">
            <a:avLst>
              <a:gd name="adj" fmla="val 12308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4041648"/>
            <a:ext cx="1371600" cy="34747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Документы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2157984" y="4233672"/>
            <a:ext cx="310896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514600" y="3931920"/>
            <a:ext cx="1481328" cy="594360"/>
          </a:xfrm>
          <a:prstGeom prst="roundRect">
            <a:avLst>
              <a:gd name="adj" fmla="val 12308"/>
            </a:avLst>
          </a:prstGeom>
          <a:solidFill>
            <a:srgbClr val="123A5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9464" y="4041648"/>
            <a:ext cx="1371600" cy="34747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Чанки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4032504" y="4233672"/>
            <a:ext cx="310896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389120" y="3931920"/>
            <a:ext cx="1481328" cy="594360"/>
          </a:xfrm>
          <a:prstGeom prst="roundRect">
            <a:avLst>
              <a:gd name="adj" fmla="val 12308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4041648"/>
            <a:ext cx="1371600" cy="34747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5907024" y="4233672"/>
            <a:ext cx="310896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263640" y="3931920"/>
            <a:ext cx="1481328" cy="594360"/>
          </a:xfrm>
          <a:prstGeom prst="roundRect">
            <a:avLst>
              <a:gd name="adj" fmla="val 12308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18504" y="4041648"/>
            <a:ext cx="1371600" cy="34747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Chroma DB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7781544" y="4233672"/>
            <a:ext cx="310896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138160" y="3931920"/>
            <a:ext cx="1481328" cy="594360"/>
          </a:xfrm>
          <a:prstGeom prst="roundRect">
            <a:avLst>
              <a:gd name="adj" fmla="val 12308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93024" y="4041648"/>
            <a:ext cx="1371600" cy="34747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Retriever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9656064" y="4233672"/>
            <a:ext cx="310896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012680" y="3931920"/>
            <a:ext cx="1481328" cy="594360"/>
          </a:xfrm>
          <a:prstGeom prst="roundRect">
            <a:avLst>
              <a:gd name="adj" fmla="val 12308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67544" y="4041648"/>
            <a:ext cx="1371600" cy="34747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answer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3657600" y="4983480"/>
            <a:ext cx="4800600" cy="384048"/>
          </a:xfrm>
          <a:prstGeom prst="roundRect">
            <a:avLst>
              <a:gd name="adj" fmla="val 42857"/>
            </a:avLst>
          </a:prstGeom>
          <a:solidFill>
            <a:srgbClr val="58A6FF">
              <a:alpha val="85000"/>
            </a:srgbClr>
          </a:solidFill>
          <a:ln w="8890">
            <a:solidFill>
              <a:srgbClr val="58A6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12464" y="5010912"/>
            <a:ext cx="4690872" cy="3108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главный объект сравнения </a:t>
            </a:r>
            <a:r>
              <a:rPr lang="ru-RU" alt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chunker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Проблема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786384"/>
            <a:ext cx="11109960" cy="0"/>
          </a:xfrm>
          <a:prstGeom prst="line">
            <a:avLst/>
          </a:prstGeom>
          <a:noFill/>
          <a:ln w="1651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6C5"/>
                </a:solidFill>
              </a:rPr>
              <a:t>02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1024128"/>
            <a:ext cx="10927080" cy="786384"/>
          </a:xfrm>
          <a:prstGeom prst="rect">
            <a:avLst/>
          </a:prstGeom>
          <a:noFill/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RAG-система строит ответ на основе найденных фрагментов из внешних документов. От качества разбиения документов зависит, какой контекст попадёт в языковую модель.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5800" y="2057400"/>
            <a:ext cx="5074920" cy="3108960"/>
          </a:xfrm>
          <a:prstGeom prst="roundRect">
            <a:avLst>
              <a:gd name="adj" fmla="val 2353"/>
            </a:avLst>
          </a:prstGeom>
          <a:solidFill>
            <a:srgbClr val="211A1A"/>
          </a:solidFill>
          <a:ln w="12700">
            <a:solidFill>
              <a:srgbClr val="6B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2057400"/>
            <a:ext cx="5074920" cy="3108960"/>
          </a:xfrm>
          <a:prstGeom prst="roundRect">
            <a:avLst>
              <a:gd name="adj" fmla="val 2353"/>
            </a:avLst>
          </a:prstGeom>
          <a:solidFill>
            <a:srgbClr val="14221C"/>
          </a:solidFill>
          <a:ln w="12700">
            <a:solidFill>
              <a:srgbClr val="2D60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2286000"/>
            <a:ext cx="457200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Неудачное чанкирование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93408" y="2286000"/>
            <a:ext cx="457200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BD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Корректное чанкирование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2761488"/>
            <a:ext cx="4572000" cy="1600200"/>
          </a:xfrm>
          <a:prstGeom prst="rect">
            <a:avLst/>
          </a:prstGeom>
          <a:noFill/>
        </p:spPr>
        <p:txBody>
          <a:bodyPr wrap="square" lIns="1778" tIns="1778" rIns="1778" bIns="1778" rtlCol="0" anchor="t">
            <a:normAutofit/>
          </a:bodyPr>
          <a:lstStyle/>
          <a:p>
            <a:r>
              <a:rPr lang="en-US" sz="123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смысловой блок разрывается
</a:t>
            </a:r>
            <a:endParaRPr lang="en-US" sz="1230" dirty="0"/>
          </a:p>
          <a:p>
            <a:r>
              <a:rPr lang="en-US" sz="123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контекст попадает шум
</a:t>
            </a:r>
            <a:endParaRPr lang="en-US" sz="1230" dirty="0"/>
          </a:p>
          <a:p>
            <a:r>
              <a:rPr lang="en-US" sz="123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важный фрагмент не находится
</a:t>
            </a:r>
            <a:endParaRPr lang="en-US" sz="1230" dirty="0"/>
          </a:p>
          <a:p>
            <a:r>
              <a:rPr lang="en-US" sz="123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ответ становится менее точным</a:t>
            </a:r>
            <a:endParaRPr lang="en-US" sz="1230" dirty="0"/>
          </a:p>
        </p:txBody>
      </p:sp>
      <p:sp>
        <p:nvSpPr>
          <p:cNvPr id="29" name="Text 27"/>
          <p:cNvSpPr/>
          <p:nvPr/>
        </p:nvSpPr>
        <p:spPr>
          <a:xfrm>
            <a:off x="6675120" y="2761488"/>
            <a:ext cx="4572000" cy="1600200"/>
          </a:xfrm>
          <a:prstGeom prst="rect">
            <a:avLst/>
          </a:prstGeom>
          <a:noFill/>
        </p:spPr>
        <p:txBody>
          <a:bodyPr wrap="square" lIns="1778" tIns="1778" rIns="1778" bIns="1778" rtlCol="0" anchor="t">
            <a:normAutofit/>
          </a:bodyPr>
          <a:lstStyle/>
          <a:p>
            <a:r>
              <a:rPr lang="en-US" sz="123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смысловой блок сохраняется
</a:t>
            </a:r>
            <a:endParaRPr lang="en-US" sz="1230" dirty="0"/>
          </a:p>
          <a:p>
            <a:r>
              <a:rPr lang="en-US" sz="123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контекст остаётся релевантным
</a:t>
            </a:r>
            <a:endParaRPr lang="en-US" sz="1230" dirty="0"/>
          </a:p>
          <a:p>
            <a:r>
              <a:rPr lang="en-US" sz="123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retriever находит нужный фрагмент
</a:t>
            </a:r>
            <a:endParaRPr lang="en-US" sz="1230" dirty="0"/>
          </a:p>
          <a:p>
            <a:r>
              <a:rPr lang="en-US" sz="123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ответ становится точнее</a:t>
            </a:r>
            <a:endParaRPr lang="en-US" sz="1230" dirty="0"/>
          </a:p>
        </p:txBody>
      </p:sp>
      <p:sp>
        <p:nvSpPr>
          <p:cNvPr id="30" name="Text 28"/>
          <p:cNvSpPr/>
          <p:nvPr/>
        </p:nvSpPr>
        <p:spPr>
          <a:xfrm>
            <a:off x="1097280" y="5623560"/>
            <a:ext cx="9966960" cy="50292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D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Ключевая идея: качество чанкирования влияет на качество поиска и итоговый ответ RAG-системы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такое RAG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786384"/>
            <a:ext cx="11109960" cy="0"/>
          </a:xfrm>
          <a:prstGeom prst="line">
            <a:avLst/>
          </a:prstGeom>
          <a:noFill/>
          <a:ln w="1651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6C5"/>
                </a:solidFill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1051560"/>
            <a:ext cx="10789920" cy="438912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— подход, при котором языковая модель отвечает с опорой на внешние документы.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2084832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2267712"/>
            <a:ext cx="1554480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Вопрос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2578608"/>
            <a:ext cx="1554480" cy="3017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пользовательский запрос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68880" y="2624328"/>
            <a:ext cx="365760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926080" y="2084832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132B43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2267712"/>
            <a:ext cx="1554480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017520" y="2578608"/>
            <a:ext cx="1554480" cy="3017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поиск по базе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624328"/>
            <a:ext cx="365760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166360" y="2084832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2267712"/>
            <a:ext cx="1554480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Top-k чанков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57800" y="2578608"/>
            <a:ext cx="1554480" cy="3017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найденный контекст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949440" y="2624328"/>
            <a:ext cx="365760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406640" y="2084832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2267712"/>
            <a:ext cx="1554480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498080" y="2578608"/>
            <a:ext cx="1554480" cy="3017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вопрос + контекст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189720" y="2624328"/>
            <a:ext cx="365760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646920" y="2084832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38360" y="2267712"/>
            <a:ext cx="1554480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738360" y="2578608"/>
            <a:ext cx="1554480" cy="3017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генерация ответа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14400" y="4069080"/>
            <a:ext cx="4892040" cy="1143000"/>
          </a:xfrm>
          <a:prstGeom prst="roundRect">
            <a:avLst>
              <a:gd name="adj" fmla="val 6400"/>
            </a:avLst>
          </a:prstGeom>
          <a:solidFill>
            <a:srgbClr val="171C24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15568" y="4261104"/>
            <a:ext cx="1645920" cy="32004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1115568" y="4645152"/>
            <a:ext cx="4251960" cy="29260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отвечает за поиск нужных фрагментов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400800" y="4069080"/>
            <a:ext cx="4892040" cy="1143000"/>
          </a:xfrm>
          <a:prstGeom prst="roundRect">
            <a:avLst>
              <a:gd name="adj" fmla="val 6400"/>
            </a:avLst>
          </a:prstGeom>
          <a:solidFill>
            <a:srgbClr val="171C24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01968" y="4261104"/>
            <a:ext cx="1920240" cy="32004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9D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Generation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601968" y="4645152"/>
            <a:ext cx="4297680" cy="29260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отвечает за формулирование ответа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1005840" y="5779008"/>
            <a:ext cx="10149840" cy="4114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не отвечает только «из памяти»: перед ответом используется найденная информация из документов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Чанки и чанкирование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786384"/>
            <a:ext cx="11109960" cy="0"/>
          </a:xfrm>
          <a:prstGeom prst="line">
            <a:avLst/>
          </a:prstGeom>
          <a:noFill/>
          <a:ln w="1651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6C5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1005840"/>
            <a:ext cx="10789920" cy="50292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</a:t>
            </a:r>
            <a:r>
              <a:rPr lang="ru-RU" altLang="en-US" sz="16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r>
              <a:rPr lang="en-US" sz="16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небольшой фрагмент документа, который становится единицей поиска в RAG.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" y="1828800"/>
            <a:ext cx="4983480" cy="1920240"/>
          </a:xfrm>
          <a:prstGeom prst="roundRect">
            <a:avLst>
              <a:gd name="adj" fmla="val 3810"/>
            </a:avLst>
          </a:prstGeom>
          <a:solidFill>
            <a:srgbClr val="0B1220"/>
          </a:solidFill>
          <a:ln w="12700">
            <a:solidFill>
              <a:srgbClr val="2432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1901952"/>
            <a:ext cx="4800600" cy="177393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Большой документ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      ↓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chunk 1 | chunk 2 | chunk 3 | chunk 4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      ↓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embeddings → поиск похожих фрагментов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400800" y="1828800"/>
            <a:ext cx="4983480" cy="1920240"/>
          </a:xfrm>
          <a:prstGeom prst="roundRect">
            <a:avLst>
              <a:gd name="adj" fmla="val 3810"/>
            </a:avLst>
          </a:prstGeom>
          <a:solidFill>
            <a:srgbClr val="171C24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2057400"/>
            <a:ext cx="4526280" cy="310896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Основные параметры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20840" y="2587752"/>
            <a:ext cx="1645920" cy="256032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chunk_size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12480" y="2587752"/>
            <a:ext cx="2560320" cy="256032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размер одного чанка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720840" y="3063240"/>
            <a:ext cx="1645920" cy="256032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chunk_overlap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412480" y="3063240"/>
            <a:ext cx="2651760" cy="256032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пересечение соседних чанков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22960" y="429768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211A1A"/>
          </a:solidFill>
          <a:ln w="12700">
            <a:solidFill>
              <a:srgbClr val="6B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4526280"/>
            <a:ext cx="4389120" cy="27432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Слишком маленькие чанки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051560" y="4901184"/>
            <a:ext cx="4389120" cy="27432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теряется контекст</a:t>
            </a:r>
            <a:endParaRPr lang="en-US" sz="1270" dirty="0"/>
          </a:p>
        </p:txBody>
      </p:sp>
      <p:sp>
        <p:nvSpPr>
          <p:cNvPr id="35" name="Shape 33"/>
          <p:cNvSpPr/>
          <p:nvPr/>
        </p:nvSpPr>
        <p:spPr>
          <a:xfrm>
            <a:off x="6400800" y="429768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211D12"/>
          </a:solidFill>
          <a:ln w="12700">
            <a:solidFill>
              <a:srgbClr val="725D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4526280"/>
            <a:ext cx="4389120" cy="27432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Слишком большие чанки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629400" y="4901184"/>
            <a:ext cx="4389120" cy="27432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появляется шум</a:t>
            </a:r>
            <a:endParaRPr lang="en-US" sz="1270" dirty="0"/>
          </a:p>
        </p:txBody>
      </p:sp>
      <p:sp>
        <p:nvSpPr>
          <p:cNvPr id="38" name="Text 36"/>
          <p:cNvSpPr/>
          <p:nvPr/>
        </p:nvSpPr>
        <p:spPr>
          <a:xfrm>
            <a:off x="1051560" y="5897880"/>
            <a:ext cx="10149840" cy="38404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39D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Нужен баланс: достаточно контекста, но без лишней информации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Данные и постановка эксперимента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786384"/>
            <a:ext cx="11109960" cy="0"/>
          </a:xfrm>
          <a:prstGeom prst="line">
            <a:avLst/>
          </a:prstGeom>
          <a:noFill/>
          <a:ln w="1651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6C5"/>
                </a:solidFill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932688"/>
            <a:ext cx="10789920" cy="65836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sz="1450" b="1">
                <a:solidFill>
                  <a:srgbClr val="E6EDF3"/>
                </a:solidFill>
                <a:latin typeface="Aptos"/>
              </a:rPr>
              <a:t>В проекте фиксируются данные и условия запуска, меняется только стратегия чанкирования. Оценка проводится на двух уровнях: retrieval и generation.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85800" y="1783080"/>
            <a:ext cx="3246120" cy="2560320"/>
          </a:xfrm>
          <a:prstGeom prst="roundRect">
            <a:avLst>
              <a:gd name="adj" fmla="val 2857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1783080"/>
            <a:ext cx="3246120" cy="2560320"/>
          </a:xfrm>
          <a:prstGeom prst="roundRect">
            <a:avLst>
              <a:gd name="adj" fmla="val 2857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75320" y="1783080"/>
            <a:ext cx="3246120" cy="2560320"/>
          </a:xfrm>
          <a:prstGeom prst="roundRect">
            <a:avLst>
              <a:gd name="adj" fmla="val 2857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2011680"/>
            <a:ext cx="2788920" cy="310896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data/corpus.json</a:t>
            </a:r>
            <a:endParaRPr lang="en-US" sz="1440" dirty="0"/>
          </a:p>
        </p:txBody>
      </p:sp>
      <p:sp>
        <p:nvSpPr>
          <p:cNvPr id="28" name="Text 26"/>
          <p:cNvSpPr/>
          <p:nvPr/>
        </p:nvSpPr>
        <p:spPr>
          <a:xfrm>
            <a:off x="914400" y="2560320"/>
            <a:ext cx="2788920" cy="59436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корпус документов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индексации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914400" y="3520440"/>
            <a:ext cx="2788920" cy="38404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CorpusLoader превращает записи в Document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09160" y="2011680"/>
            <a:ext cx="2788920" cy="310896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39D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data/MultiHopRAG.json</a:t>
            </a:r>
            <a:endParaRPr lang="en-US" sz="1440" dirty="0"/>
          </a:p>
        </p:txBody>
      </p:sp>
      <p:sp>
        <p:nvSpPr>
          <p:cNvPr id="31" name="Text 29"/>
          <p:cNvSpPr/>
          <p:nvPr/>
        </p:nvSpPr>
        <p:spPr>
          <a:xfrm>
            <a:off x="4709160" y="2560320"/>
            <a:ext cx="2788920" cy="59436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вопросы и эталонная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информация для оценки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4709160" y="3520440"/>
            <a:ext cx="2788920" cy="38404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одинаковые вопросы для всех стратегий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503920" y="2011680"/>
            <a:ext cx="2788920" cy="310896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results/*.csv</a:t>
            </a:r>
            <a:endParaRPr lang="en-US" sz="1440" dirty="0"/>
          </a:p>
        </p:txBody>
      </p:sp>
      <p:sp>
        <p:nvSpPr>
          <p:cNvPr id="34" name="Text 32"/>
          <p:cNvSpPr/>
          <p:nvPr/>
        </p:nvSpPr>
        <p:spPr>
          <a:xfrm>
            <a:off x="8503920" y="2560320"/>
            <a:ext cx="2788920" cy="59436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ответы pipeline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 метрики качества</a:t>
            </a:r>
            <a:endParaRPr lang="en-US" sz="1280" dirty="0"/>
          </a:p>
        </p:txBody>
      </p:sp>
      <p:sp>
        <p:nvSpPr>
          <p:cNvPr id="35" name="Text 33"/>
          <p:cNvSpPr/>
          <p:nvPr/>
        </p:nvSpPr>
        <p:spPr>
          <a:xfrm>
            <a:off x="8503920" y="3520440"/>
            <a:ext cx="2788920" cy="38404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сравнение фиксируется в отдельных файлах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97280" y="4800600"/>
            <a:ext cx="9966960" cy="1051560"/>
          </a:xfrm>
          <a:prstGeom prst="roundRect">
            <a:avLst>
              <a:gd name="adj" fmla="val 8421"/>
            </a:avLst>
          </a:prstGeom>
          <a:solidFill>
            <a:srgbClr val="0B1220"/>
          </a:solidFill>
          <a:ln w="12700">
            <a:solidFill>
              <a:srgbClr val="2432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0" y="4864608"/>
            <a:ext cx="9784080" cy="8961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sz="1050">
                <a:solidFill>
                  <a:srgbClr val="E6EDF3"/>
                </a:solidFill>
                <a:latin typeface="Cascadia Mono" panose="020B0609020000020004"/>
              </a:rPr>
              <a:t>Один corpus + одни вопросы + один retriever/LLM</a:t>
            </a:r>
            <a:br>
              <a:rPr sz="1050">
                <a:solidFill>
                  <a:srgbClr val="E6EDF3"/>
                </a:solidFill>
                <a:latin typeface="Cascadia Mono" panose="020B0609020000020004"/>
              </a:rPr>
            </a:br>
            <a:r>
              <a:rPr sz="1050">
                <a:solidFill>
                  <a:srgbClr val="E6EDF3"/>
                </a:solidFill>
                <a:latin typeface="Cascadia Mono" panose="020B0609020000020004"/>
              </a:rPr>
              <a:t>                         ↓</a:t>
            </a:r>
            <a:br>
              <a:rPr sz="1050">
                <a:solidFill>
                  <a:srgbClr val="E6EDF3"/>
                </a:solidFill>
                <a:latin typeface="Cascadia Mono" panose="020B0609020000020004"/>
              </a:rPr>
            </a:br>
            <a:r>
              <a:rPr sz="1050">
                <a:solidFill>
                  <a:srgbClr val="E6EDF3"/>
                </a:solidFill>
                <a:latin typeface="Cascadia Mono" panose="020B0609020000020004"/>
              </a:rPr>
              <a:t>              разные chunker-классы</a:t>
            </a:r>
            <a:br>
              <a:rPr sz="1050">
                <a:solidFill>
                  <a:srgbClr val="E6EDF3"/>
                </a:solidFill>
                <a:latin typeface="Cascadia Mono" panose="020B0609020000020004"/>
              </a:rPr>
            </a:br>
            <a:r>
              <a:rPr sz="1050">
                <a:solidFill>
                  <a:srgbClr val="E6EDF3"/>
                </a:solidFill>
                <a:latin typeface="Cascadia Mono" panose="020B0609020000020004"/>
              </a:rPr>
              <a:t>                         ↓</a:t>
            </a:r>
            <a:br>
              <a:rPr sz="1050">
                <a:solidFill>
                  <a:srgbClr val="E6EDF3"/>
                </a:solidFill>
                <a:latin typeface="Cascadia Mono" panose="020B0609020000020004"/>
              </a:rPr>
            </a:br>
            <a:r>
              <a:rPr sz="1050">
                <a:solidFill>
                  <a:srgbClr val="E6EDF3"/>
                </a:solidFill>
                <a:latin typeface="Cascadia Mono" panose="020B0609020000020004"/>
              </a:rPr>
              <a:t>          retrieval quality + QA quality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Векторное хранилище Chroma DB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786384"/>
            <a:ext cx="11109960" cy="0"/>
          </a:xfrm>
          <a:prstGeom prst="line">
            <a:avLst/>
          </a:prstGeom>
          <a:noFill/>
          <a:ln w="1651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6C5"/>
                </a:solidFill>
              </a:rPr>
              <a:t>06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978408"/>
            <a:ext cx="10789920" cy="45720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Chroma DB хранит тексты чанков и их embeddings для поиска по смысловой близости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749808" y="18288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2020824"/>
            <a:ext cx="1591056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Документ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822960" y="2331720"/>
            <a:ext cx="1591056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исходный текст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32888" y="2286000"/>
            <a:ext cx="365760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990088" y="18288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63240" y="2020824"/>
            <a:ext cx="1591056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Chunker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3063240" y="2331720"/>
            <a:ext cx="1591056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фрагменты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73168" y="2286000"/>
            <a:ext cx="365760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230368" y="18288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2020824"/>
            <a:ext cx="1591056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model</a:t>
            </a:r>
            <a:endParaRPr lang="en-US" sz="1280" dirty="0"/>
          </a:p>
        </p:txBody>
      </p:sp>
      <p:sp>
        <p:nvSpPr>
          <p:cNvPr id="34" name="Text 32"/>
          <p:cNvSpPr/>
          <p:nvPr/>
        </p:nvSpPr>
        <p:spPr>
          <a:xfrm>
            <a:off x="5303520" y="2331720"/>
            <a:ext cx="1591056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векторы смысла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013448" y="2286000"/>
            <a:ext cx="365760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470648" y="18288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2293B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43800" y="2020824"/>
            <a:ext cx="1591056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Chroma DB</a:t>
            </a:r>
            <a:endParaRPr lang="en-US" sz="1280" dirty="0"/>
          </a:p>
        </p:txBody>
      </p:sp>
      <p:sp>
        <p:nvSpPr>
          <p:cNvPr id="38" name="Text 36"/>
          <p:cNvSpPr/>
          <p:nvPr/>
        </p:nvSpPr>
        <p:spPr>
          <a:xfrm>
            <a:off x="7543800" y="2331720"/>
            <a:ext cx="1591056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хранилище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253728" y="2286000"/>
            <a:ext cx="365760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710928" y="18288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84080" y="2020824"/>
            <a:ext cx="1591056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Top-k чанков</a:t>
            </a:r>
            <a:endParaRPr lang="en-US" sz="1280" dirty="0"/>
          </a:p>
        </p:txBody>
      </p:sp>
      <p:sp>
        <p:nvSpPr>
          <p:cNvPr id="42" name="Text 40"/>
          <p:cNvSpPr/>
          <p:nvPr/>
        </p:nvSpPr>
        <p:spPr>
          <a:xfrm>
            <a:off x="9784080" y="2331720"/>
            <a:ext cx="1591056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контекст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2960" y="3657600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171C24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42416" y="3748913"/>
            <a:ext cx="4617720" cy="27432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хранится в Chroma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84885" y="4069207"/>
            <a:ext cx="4480560" cy="594360"/>
          </a:xfrm>
          <a:prstGeom prst="rect">
            <a:avLst/>
          </a:prstGeom>
          <a:noFill/>
        </p:spPr>
        <p:txBody>
          <a:bodyPr wrap="square" lIns="1778" tIns="1778" rIns="1778" bIns="1778" rtlCol="0" anchor="t">
            <a:normAutofit/>
          </a:bodyPr>
          <a:lstStyle/>
          <a:p>
            <a:r>
              <a:rPr lang="en-US" sz="115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текст чанка
</a:t>
            </a:r>
            <a:endParaRPr lang="en-US" sz="1150" dirty="0"/>
          </a:p>
          <a:p>
            <a:r>
              <a:rPr lang="en-US" sz="115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чанка
</a:t>
            </a:r>
            <a:endParaRPr lang="en-US" sz="1150" dirty="0"/>
          </a:p>
          <a:p>
            <a:r>
              <a:rPr lang="en-US" sz="115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 и служебная информация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400800" y="3657600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171C24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20256" y="3858768"/>
            <a:ext cx="4617720" cy="27432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9D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не обычный поиск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629400" y="4315968"/>
            <a:ext cx="4526280" cy="45720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вопрос и фрагмент могут быть сформулированы разными словами, но иметь близкий смысл</a:t>
            </a:r>
            <a:endParaRPr lang="en-US" sz="1170" dirty="0"/>
          </a:p>
        </p:txBody>
      </p:sp>
      <p:sp>
        <p:nvSpPr>
          <p:cNvPr id="49" name="Shape 47"/>
          <p:cNvSpPr/>
          <p:nvPr/>
        </p:nvSpPr>
        <p:spPr>
          <a:xfrm>
            <a:off x="1874520" y="5623560"/>
            <a:ext cx="8458200" cy="502920"/>
          </a:xfrm>
          <a:prstGeom prst="roundRect">
            <a:avLst>
              <a:gd name="adj" fmla="val 14545"/>
            </a:avLst>
          </a:prstGeom>
          <a:solidFill>
            <a:srgbClr val="0B1220"/>
          </a:solidFill>
          <a:ln w="12700">
            <a:solidFill>
              <a:srgbClr val="24324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65960" y="5696712"/>
            <a:ext cx="8275320" cy="35661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similarity(question_embedding, chunk_embedding) → top-k</a:t>
            </a:r>
            <a:endParaRPr lang="en-US" sz="13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Архитектура RAG-пайплайна в коде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786384"/>
            <a:ext cx="11109960" cy="0"/>
          </a:xfrm>
          <a:prstGeom prst="line">
            <a:avLst/>
          </a:prstGeom>
          <a:noFill/>
          <a:ln w="1651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6C5"/>
                </a:solidFill>
              </a:rPr>
              <a:t>07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1417320"/>
            <a:ext cx="1783080" cy="1170432"/>
          </a:xfrm>
          <a:prstGeom prst="roundRect">
            <a:avLst>
              <a:gd name="adj" fmla="val 6250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1645920"/>
            <a:ext cx="1636776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CorpusLoader</a:t>
            </a:r>
            <a:endParaRPr lang="en-US" sz="1210" dirty="0"/>
          </a:p>
        </p:txBody>
      </p:sp>
      <p:sp>
        <p:nvSpPr>
          <p:cNvPr id="25" name="Text 23"/>
          <p:cNvSpPr/>
          <p:nvPr/>
        </p:nvSpPr>
        <p:spPr>
          <a:xfrm>
            <a:off x="713232" y="2029968"/>
            <a:ext cx="1636776" cy="3291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читает corpus.json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2468880" y="1993392"/>
            <a:ext cx="347472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926080" y="1417320"/>
            <a:ext cx="1783080" cy="1170432"/>
          </a:xfrm>
          <a:prstGeom prst="roundRect">
            <a:avLst>
              <a:gd name="adj" fmla="val 6250"/>
            </a:avLst>
          </a:prstGeom>
          <a:solidFill>
            <a:srgbClr val="123A5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1645920"/>
            <a:ext cx="1636776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Chunker</a:t>
            </a:r>
            <a:endParaRPr lang="en-US" sz="1210" dirty="0"/>
          </a:p>
        </p:txBody>
      </p:sp>
      <p:sp>
        <p:nvSpPr>
          <p:cNvPr id="29" name="Text 27"/>
          <p:cNvSpPr/>
          <p:nvPr/>
        </p:nvSpPr>
        <p:spPr>
          <a:xfrm>
            <a:off x="2999232" y="2029968"/>
            <a:ext cx="1636776" cy="3291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разбивает документы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4754880" y="1993392"/>
            <a:ext cx="347472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212080" y="1417320"/>
            <a:ext cx="1783080" cy="1170432"/>
          </a:xfrm>
          <a:prstGeom prst="roundRect">
            <a:avLst>
              <a:gd name="adj" fmla="val 6250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85232" y="1645920"/>
            <a:ext cx="1636776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VectorStore</a:t>
            </a:r>
            <a:endParaRPr lang="en-US" sz="1210" dirty="0"/>
          </a:p>
        </p:txBody>
      </p:sp>
      <p:sp>
        <p:nvSpPr>
          <p:cNvPr id="33" name="Text 31"/>
          <p:cNvSpPr/>
          <p:nvPr/>
        </p:nvSpPr>
        <p:spPr>
          <a:xfrm>
            <a:off x="5285232" y="2029968"/>
            <a:ext cx="1636776" cy="3291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создаёт Chroma index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7040880" y="1993392"/>
            <a:ext cx="347472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498080" y="1417320"/>
            <a:ext cx="1783080" cy="1170432"/>
          </a:xfrm>
          <a:prstGeom prst="roundRect">
            <a:avLst>
              <a:gd name="adj" fmla="val 6250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71232" y="1645920"/>
            <a:ext cx="1636776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Retriever</a:t>
            </a:r>
            <a:endParaRPr lang="en-US" sz="1210" dirty="0"/>
          </a:p>
        </p:txBody>
      </p:sp>
      <p:sp>
        <p:nvSpPr>
          <p:cNvPr id="37" name="Text 35"/>
          <p:cNvSpPr/>
          <p:nvPr/>
        </p:nvSpPr>
        <p:spPr>
          <a:xfrm>
            <a:off x="7571232" y="2029968"/>
            <a:ext cx="1636776" cy="3291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возвращает top-k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9326880" y="1993392"/>
            <a:ext cx="347472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784080" y="1417320"/>
            <a:ext cx="1783080" cy="1170432"/>
          </a:xfrm>
          <a:prstGeom prst="roundRect">
            <a:avLst>
              <a:gd name="adj" fmla="val 6250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57232" y="1645920"/>
            <a:ext cx="1636776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AnswerGenerator</a:t>
            </a:r>
            <a:endParaRPr lang="en-US" sz="1210" dirty="0"/>
          </a:p>
        </p:txBody>
      </p:sp>
      <p:sp>
        <p:nvSpPr>
          <p:cNvPr id="41" name="Text 39"/>
          <p:cNvSpPr/>
          <p:nvPr/>
        </p:nvSpPr>
        <p:spPr>
          <a:xfrm>
            <a:off x="9857232" y="2029968"/>
            <a:ext cx="1636776" cy="3291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+ Groq LLM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822960" y="3246120"/>
            <a:ext cx="4800600" cy="2423160"/>
          </a:xfrm>
          <a:prstGeom prst="roundRect">
            <a:avLst>
              <a:gd name="adj" fmla="val 3019"/>
            </a:avLst>
          </a:prstGeom>
          <a:solidFill>
            <a:srgbClr val="0B1220"/>
          </a:solidFill>
          <a:ln w="12700">
            <a:solidFill>
              <a:srgbClr val="2432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91895" y="3429000"/>
            <a:ext cx="4093845" cy="2025015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RAGPipeline.build_from_document()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1. load_content()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2. split_documents()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3. create_from_documents()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4. as_retriever(k=4)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5. AnswerGenerator(...)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217920" y="3246120"/>
            <a:ext cx="5074920" cy="2423160"/>
          </a:xfrm>
          <a:prstGeom prst="roundRect">
            <a:avLst>
              <a:gd name="adj" fmla="val 3019"/>
            </a:avLst>
          </a:prstGeom>
          <a:solidFill>
            <a:srgbClr val="171C24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3502152"/>
            <a:ext cx="4617720" cy="29260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9D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Контролируемый эксперимент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92240" y="4004945"/>
            <a:ext cx="4526280" cy="1314450"/>
          </a:xfrm>
          <a:prstGeom prst="rect">
            <a:avLst/>
          </a:prstGeom>
          <a:noFill/>
        </p:spPr>
        <p:txBody>
          <a:bodyPr wrap="square" lIns="1778" tIns="1778" rIns="1778" bIns="1778" rtlCol="0" anchor="t">
            <a:normAutofit lnSpcReduction="20000"/>
          </a:bodyPr>
          <a:lstStyle/>
          <a:p>
            <a:r>
              <a:rPr lang="en-US" sz="123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меняется только Chunker
</a:t>
            </a:r>
            <a:endParaRPr lang="en-US" sz="1230" dirty="0"/>
          </a:p>
          <a:p>
            <a:r>
              <a:rPr lang="en-US" sz="123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корпус остаётся одинаковым
</a:t>
            </a:r>
            <a:endParaRPr lang="en-US" sz="1230" dirty="0"/>
          </a:p>
          <a:p>
            <a:r>
              <a:rPr lang="en-US" sz="123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VectorStore и retriever одинаковые
</a:t>
            </a:r>
            <a:endParaRPr lang="en-US" sz="1230" dirty="0"/>
          </a:p>
          <a:p>
            <a:r>
              <a:rPr lang="en-US" sz="123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и prompt-шаблон фиксированы</a:t>
            </a:r>
            <a:endParaRPr lang="en-US" sz="1230" dirty="0"/>
          </a:p>
        </p:txBody>
      </p:sp>
      <p:sp>
        <p:nvSpPr>
          <p:cNvPr id="47" name="Text 45"/>
          <p:cNvSpPr/>
          <p:nvPr/>
        </p:nvSpPr>
        <p:spPr>
          <a:xfrm>
            <a:off x="6492240" y="5318125"/>
            <a:ext cx="4572000" cy="259715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Так различия в качестве связываются со способом разбиения текста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Стратегии чанкирования в проекте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786384"/>
            <a:ext cx="11109960" cy="0"/>
          </a:xfrm>
          <a:prstGeom prst="line">
            <a:avLst/>
          </a:prstGeom>
          <a:noFill/>
          <a:ln w="1651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6C5"/>
                </a:solidFill>
              </a:rPr>
              <a:t>08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978408"/>
            <a:ext cx="10789920" cy="41148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Стратегии вынесены в отдельные классы в chunkers.py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85800" y="1828800"/>
            <a:ext cx="2423160" cy="1325880"/>
          </a:xfrm>
          <a:prstGeom prst="roundRect">
            <a:avLst>
              <a:gd name="adj" fmla="val 5517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2084832"/>
            <a:ext cx="224028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FixedChunker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77240" y="2514600"/>
            <a:ext cx="2240280" cy="3017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фиксированный размер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3520440" y="1828800"/>
            <a:ext cx="2423160" cy="1325880"/>
          </a:xfrm>
          <a:prstGeom prst="roundRect">
            <a:avLst>
              <a:gd name="adj" fmla="val 5517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2084832"/>
            <a:ext cx="224028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RecursiveChunker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611880" y="2514600"/>
            <a:ext cx="2240280" cy="3017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структурное разбиение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355080" y="1828800"/>
            <a:ext cx="2423160" cy="1325880"/>
          </a:xfrm>
          <a:prstGeom prst="roundRect">
            <a:avLst>
              <a:gd name="adj" fmla="val 5517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2084832"/>
            <a:ext cx="224028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NltkSemanticChunker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46520" y="2514600"/>
            <a:ext cx="2240280" cy="3017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предложения + склейка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9189720" y="1828800"/>
            <a:ext cx="2423160" cy="1325880"/>
          </a:xfrm>
          <a:prstGeom prst="roundRect">
            <a:avLst>
              <a:gd name="adj" fmla="val 5517"/>
            </a:avLst>
          </a:prstGeom>
          <a:solidFill>
            <a:srgbClr val="123A5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81160" y="2084832"/>
            <a:ext cx="224028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SemanticChunker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281160" y="2514600"/>
            <a:ext cx="2240280" cy="3017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смысловые сдвиги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1828800" y="3977640"/>
            <a:ext cx="8503920" cy="1234440"/>
          </a:xfrm>
          <a:prstGeom prst="roundRect">
            <a:avLst>
              <a:gd name="adj" fmla="val 5926"/>
            </a:avLst>
          </a:prstGeom>
          <a:solidFill>
            <a:srgbClr val="0B1220"/>
          </a:solidFill>
          <a:ln w="12700">
            <a:solidFill>
              <a:srgbClr val="2432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20240" y="4050792"/>
            <a:ext cx="8321040" cy="108813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Один корпус документов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    ↓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разные chunker-классы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    ↓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одинаковый VectorStore + Retriever + Groq LLM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291840" y="5650992"/>
            <a:ext cx="5669280" cy="384048"/>
          </a:xfrm>
          <a:prstGeom prst="roundRect">
            <a:avLst>
              <a:gd name="adj" fmla="val 42857"/>
            </a:avLst>
          </a:prstGeom>
          <a:solidFill>
            <a:srgbClr val="58A6FF">
              <a:alpha val="85000"/>
            </a:srgbClr>
          </a:solidFill>
          <a:ln w="8890">
            <a:solidFill>
              <a:srgbClr val="58A6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46704" y="5678424"/>
            <a:ext cx="5559552" cy="3108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сравнивается именно способ нарезки текста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FixedChunker и RecursiveChunker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786384"/>
            <a:ext cx="11109960" cy="0"/>
          </a:xfrm>
          <a:prstGeom prst="line">
            <a:avLst/>
          </a:prstGeom>
          <a:noFill/>
          <a:ln w="1651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6C5"/>
                </a:solidFill>
              </a:rPr>
              <a:t>09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1325880"/>
            <a:ext cx="5166360" cy="4023360"/>
          </a:xfrm>
          <a:prstGeom prst="roundRect">
            <a:avLst>
              <a:gd name="adj" fmla="val 1818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1325880"/>
            <a:ext cx="5166360" cy="4023360"/>
          </a:xfrm>
          <a:prstGeom prst="roundRect">
            <a:avLst>
              <a:gd name="adj" fmla="val 1818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1600200"/>
            <a:ext cx="4617720" cy="32004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FixedChunker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60120" y="2148840"/>
            <a:ext cx="4617720" cy="566928"/>
          </a:xfrm>
          <a:prstGeom prst="roundRect">
            <a:avLst>
              <a:gd name="adj" fmla="val 12903"/>
            </a:avLst>
          </a:prstGeom>
          <a:solidFill>
            <a:srgbClr val="0B1220"/>
          </a:solidFill>
          <a:ln w="12700">
            <a:solidFill>
              <a:srgbClr val="2432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2221992"/>
            <a:ext cx="4434840" cy="42062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текст → каждые N символов → чанки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960120" y="2971800"/>
            <a:ext cx="4617720" cy="1325880"/>
          </a:xfrm>
          <a:prstGeom prst="rect">
            <a:avLst/>
          </a:prstGeom>
          <a:noFill/>
        </p:spPr>
        <p:txBody>
          <a:bodyPr wrap="square" lIns="1778" tIns="1778" rIns="1778" bIns="1778" rtlCol="0" anchor="t">
            <a:normAutofit/>
          </a:bodyPr>
          <a:lstStyle/>
          <a:p>
            <a:r>
              <a:rPr lang="en-US" sz="12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использует CharacterTextSplitter
</a:t>
            </a:r>
            <a:endParaRPr lang="en-US" sz="1220" dirty="0"/>
          </a:p>
          <a:p>
            <a:r>
              <a:rPr lang="en-US" sz="12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простая и быстрая стратегия
</a:t>
            </a:r>
            <a:endParaRPr lang="en-US" sz="1220" dirty="0"/>
          </a:p>
          <a:p>
            <a:r>
              <a:rPr lang="en-US" sz="12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может разорвать предложение или смысловой блок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960120" y="4663440"/>
            <a:ext cx="4617720" cy="256032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для механического разбиения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6629400" y="1600200"/>
            <a:ext cx="4617720" cy="32004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9D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RecursiveChunker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629400" y="2148840"/>
            <a:ext cx="4617720" cy="566928"/>
          </a:xfrm>
          <a:prstGeom prst="roundRect">
            <a:avLst>
              <a:gd name="adj" fmla="val 12903"/>
            </a:avLst>
          </a:prstGeom>
          <a:solidFill>
            <a:srgbClr val="0B1220"/>
          </a:solidFill>
          <a:ln w="12700">
            <a:solidFill>
              <a:srgbClr val="2432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2221992"/>
            <a:ext cx="4434840" cy="42062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абзацы → строки → слова → символы</a:t>
            </a:r>
            <a:endParaRPr lang="en-US" sz="1130" dirty="0"/>
          </a:p>
        </p:txBody>
      </p:sp>
      <p:sp>
        <p:nvSpPr>
          <p:cNvPr id="33" name="Text 31"/>
          <p:cNvSpPr/>
          <p:nvPr/>
        </p:nvSpPr>
        <p:spPr>
          <a:xfrm>
            <a:off x="6629400" y="2971800"/>
            <a:ext cx="4617720" cy="1325880"/>
          </a:xfrm>
          <a:prstGeom prst="rect">
            <a:avLst/>
          </a:prstGeom>
          <a:noFill/>
        </p:spPr>
        <p:txBody>
          <a:bodyPr wrap="square" lIns="1778" tIns="1778" rIns="1778" bIns="1778" rtlCol="0" anchor="t">
            <a:normAutofit/>
          </a:bodyPr>
          <a:lstStyle/>
          <a:p>
            <a:r>
              <a:rPr lang="en-US" sz="12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использует RecursiveCharacterTextSplitter
</a:t>
            </a:r>
            <a:endParaRPr lang="en-US" sz="1220" dirty="0"/>
          </a:p>
          <a:p>
            <a:r>
              <a:rPr lang="en-US" sz="12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лучше сохраняет структуру текста
</a:t>
            </a:r>
            <a:endParaRPr lang="en-US" sz="1220" dirty="0"/>
          </a:p>
          <a:p>
            <a:r>
              <a:rPr lang="en-US" sz="12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анализирует смысловую близость предложений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6629400" y="4663440"/>
            <a:ext cx="4617720" cy="256032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для структурного разбиения</a:t>
            </a:r>
            <a:endParaRPr lang="en-US" sz="1130" dirty="0"/>
          </a:p>
        </p:txBody>
      </p:sp>
      <p:sp>
        <p:nvSpPr>
          <p:cNvPr id="35" name="Text 33"/>
          <p:cNvSpPr/>
          <p:nvPr/>
        </p:nvSpPr>
        <p:spPr>
          <a:xfrm>
            <a:off x="1005840" y="5824728"/>
            <a:ext cx="10149840" cy="38404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Обе стратегии не используют embeddings для определения смысловых границ</a:t>
            </a:r>
            <a:endParaRPr lang="en-US" sz="14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NltkSemanticChunker: sentence-based подход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786384"/>
            <a:ext cx="11109960" cy="0"/>
          </a:xfrm>
          <a:prstGeom prst="line">
            <a:avLst/>
          </a:prstGeom>
          <a:noFill/>
          <a:ln w="1651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6C5"/>
                </a:solidFill>
              </a:rPr>
              <a:t>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1005840"/>
            <a:ext cx="10789920" cy="420624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altLang="en-US" sz="155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Класс использует разбиение на предложения, но не анализирует смысловую близость между ними</a:t>
            </a:r>
            <a:endParaRPr lang="en-US" altLang="en-US" sz="1550" b="1" dirty="0">
              <a:solidFill>
                <a:srgbClr val="E6EDF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22960" y="1828800"/>
            <a:ext cx="4754880" cy="2834640"/>
          </a:xfrm>
          <a:prstGeom prst="roundRect">
            <a:avLst>
              <a:gd name="adj" fmla="val 2581"/>
            </a:avLst>
          </a:prstGeom>
          <a:solidFill>
            <a:srgbClr val="0B1220"/>
          </a:solidFill>
          <a:ln w="12700">
            <a:solidFill>
              <a:srgbClr val="2432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1901952"/>
            <a:ext cx="4572000" cy="268833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текст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↓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sent_tokenize()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↓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список предложений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↓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RecursiveCharacterTextSplitter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↓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чанки по размеру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6172200" y="1828800"/>
            <a:ext cx="5257800" cy="2834640"/>
          </a:xfrm>
          <a:prstGeom prst="roundRect">
            <a:avLst>
              <a:gd name="adj" fmla="val 2581"/>
            </a:avLst>
          </a:prstGeom>
          <a:solidFill>
            <a:srgbClr val="171C24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066544"/>
            <a:ext cx="4754880" cy="32004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отсутствует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46520" y="2633472"/>
            <a:ext cx="4617720" cy="1143000"/>
          </a:xfrm>
          <a:prstGeom prst="rect">
            <a:avLst/>
          </a:prstGeom>
          <a:noFill/>
        </p:spPr>
        <p:txBody>
          <a:bodyPr wrap="square" lIns="1778" tIns="1778" rIns="1778" bIns="1778" rtlCol="0" anchor="t">
            <a:normAutofit/>
          </a:bodyPr>
          <a:lstStyle/>
          <a:p>
            <a:r>
              <a:rPr lang="en-US" sz="125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нет embeddings предложений
</a:t>
            </a:r>
            <a:endParaRPr lang="en-US" sz="1250" dirty="0"/>
          </a:p>
          <a:p>
            <a:r>
              <a:rPr lang="en-US" sz="125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нет cosine distance
</a:t>
            </a:r>
            <a:endParaRPr lang="en-US" sz="1250" dirty="0"/>
          </a:p>
          <a:p>
            <a:r>
              <a:rPr lang="en-US" sz="125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нет поиска смыслового перехода
</a:t>
            </a:r>
            <a:endParaRPr lang="en-US" sz="1250" dirty="0"/>
          </a:p>
          <a:p>
            <a:r>
              <a:rPr lang="en-US" sz="125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границы зависят от предложений и размера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SemanticChunker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786384"/>
            <a:ext cx="11109960" cy="0"/>
          </a:xfrm>
          <a:prstGeom prst="line">
            <a:avLst/>
          </a:prstGeom>
          <a:noFill/>
          <a:ln w="1651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6C5"/>
                </a:solidFill>
              </a:rPr>
              <a:t>11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978408"/>
            <a:ext cx="10789920" cy="45720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SemanticChunker добавляет разбиение по смысловым переходам между соседними предложениями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914400" y="1783080"/>
            <a:ext cx="10332720" cy="658368"/>
          </a:xfrm>
          <a:prstGeom prst="roundRect">
            <a:avLst>
              <a:gd name="adj" fmla="val 11111"/>
            </a:avLst>
          </a:prstGeom>
          <a:solidFill>
            <a:srgbClr val="0B1220"/>
          </a:solidFill>
          <a:ln w="12700">
            <a:solidFill>
              <a:srgbClr val="2432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1856232"/>
            <a:ext cx="10149840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E6EDF3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текст → предложения → embeddings → cosine distance → semantic shifts → chunks</a:t>
            </a:r>
            <a:endParaRPr lang="en-US" sz="1420" dirty="0"/>
          </a:p>
        </p:txBody>
      </p:sp>
      <p:sp>
        <p:nvSpPr>
          <p:cNvPr id="26" name="Shape 24"/>
          <p:cNvSpPr/>
          <p:nvPr/>
        </p:nvSpPr>
        <p:spPr>
          <a:xfrm>
            <a:off x="868680" y="301752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3246120"/>
            <a:ext cx="4617720" cy="29260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NltkSemanticChunker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3767328"/>
            <a:ext cx="4617720" cy="45720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делит текст на предложения и склеивает их по размеру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301752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123A5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246120"/>
            <a:ext cx="4617720" cy="29260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SemanticChunker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92240" y="3767328"/>
            <a:ext cx="4617720" cy="45720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ищет места смыслового перехода между предложениями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51560" y="5715000"/>
            <a:ext cx="10058400" cy="402336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39D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Идея: разделять текст не только по длине или структуре, а по изменению смысла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Алгоритм SemanticChunker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786384"/>
            <a:ext cx="11109960" cy="0"/>
          </a:xfrm>
          <a:prstGeom prst="line">
            <a:avLst/>
          </a:prstGeom>
          <a:noFill/>
          <a:ln w="1651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6C5"/>
                </a:solidFill>
              </a:rPr>
              <a:t>12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" y="123444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1380744"/>
            <a:ext cx="218541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очистка текста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3017520" y="1563624"/>
            <a:ext cx="338328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493008" y="123444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1380744"/>
            <a:ext cx="218541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sent_tokenize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852160" y="1563624"/>
            <a:ext cx="338328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327648" y="123444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380744"/>
            <a:ext cx="218541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embeddings предложений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8686800" y="1563624"/>
            <a:ext cx="338328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162288" y="123444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132B43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35440" y="1380744"/>
            <a:ext cx="218541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cosine distance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58368" y="237744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132B43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2523744"/>
            <a:ext cx="218541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порог разбиения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3017520" y="2706624"/>
            <a:ext cx="338328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493008" y="237744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160" y="2523744"/>
            <a:ext cx="218541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смысловые группы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5852160" y="2706624"/>
            <a:ext cx="338328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327648" y="237744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2523744"/>
            <a:ext cx="218541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fallback по chunk_size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914400" y="388620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0B1220"/>
          </a:solidFill>
          <a:ln w="12700">
            <a:solidFill>
              <a:srgbClr val="2432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5840" y="3959352"/>
            <a:ext cx="5029200" cy="53949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distance = 1 - np.sum(emb[i] * emb[i+1])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537960" y="3703320"/>
            <a:ext cx="4709160" cy="1051560"/>
          </a:xfrm>
          <a:prstGeom prst="roundRect">
            <a:avLst>
              <a:gd name="adj" fmla="val 6957"/>
            </a:avLst>
          </a:prstGeom>
          <a:solidFill>
            <a:srgbClr val="171C24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48272" y="3977640"/>
            <a:ext cx="4297680" cy="42062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Если distance выше порога, создаётся новая граница чанка</a:t>
            </a:r>
            <a:endParaRPr lang="en-US" sz="1320" dirty="0"/>
          </a:p>
        </p:txBody>
      </p:sp>
      <p:sp>
        <p:nvSpPr>
          <p:cNvPr id="46" name="Shape 44"/>
          <p:cNvSpPr/>
          <p:nvPr/>
        </p:nvSpPr>
        <p:spPr>
          <a:xfrm>
            <a:off x="1417320" y="5257800"/>
            <a:ext cx="9326880" cy="713232"/>
          </a:xfrm>
          <a:prstGeom prst="roundRect">
            <a:avLst>
              <a:gd name="adj" fmla="val 10256"/>
            </a:avLst>
          </a:prstGeom>
          <a:solidFill>
            <a:srgbClr val="0B1220"/>
          </a:solidFill>
          <a:ln w="12700">
            <a:solidFill>
              <a:srgbClr val="2432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08760" y="5330952"/>
            <a:ext cx="9144000" cy="56692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E6EDF3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s1 ─ s2 ─ s3 ║ s4 ─ s5 ║ s6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E6EDF3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0.12 0.18 0.71 0.15 0.68</a:t>
            </a:r>
            <a:endParaRPr lang="en-US" sz="13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Запуск эксперимента в qa_pipeline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786384"/>
            <a:ext cx="11109960" cy="0"/>
          </a:xfrm>
          <a:prstGeom prst="line">
            <a:avLst/>
          </a:prstGeom>
          <a:noFill/>
          <a:ln w="1651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6C5"/>
                </a:solidFill>
              </a:rPr>
              <a:t>13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978408"/>
            <a:ext cx="10789920" cy="45720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каждой стратегии создаётся отдельный RAG-pipeline с одинаковыми условиями запуска.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85800" y="178308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1975104"/>
            <a:ext cx="2276856" cy="2468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FixedChunker</a:t>
            </a:r>
            <a:endParaRPr lang="en-US" sz="1180" dirty="0"/>
          </a:p>
        </p:txBody>
      </p:sp>
      <p:sp>
        <p:nvSpPr>
          <p:cNvPr id="26" name="Text 24"/>
          <p:cNvSpPr/>
          <p:nvPr/>
        </p:nvSpPr>
        <p:spPr>
          <a:xfrm>
            <a:off x="758952" y="2331720"/>
            <a:ext cx="2276856" cy="228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fixed_pipeline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3520440" y="178308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93592" y="1975104"/>
            <a:ext cx="2276856" cy="2468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NltkSemantic...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3593592" y="2331720"/>
            <a:ext cx="2276856" cy="228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semantic_pipeline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6355080" y="178308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1975104"/>
            <a:ext cx="2276856" cy="2468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RecursiveChunker</a:t>
            </a:r>
            <a:endParaRPr lang="en-US" sz="1180" dirty="0"/>
          </a:p>
        </p:txBody>
      </p:sp>
      <p:sp>
        <p:nvSpPr>
          <p:cNvPr id="32" name="Text 30"/>
          <p:cNvSpPr/>
          <p:nvPr/>
        </p:nvSpPr>
        <p:spPr>
          <a:xfrm>
            <a:off x="6428232" y="2331720"/>
            <a:ext cx="2276856" cy="228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recursive_pipeline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9189720" y="178308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123A5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62872" y="1975104"/>
            <a:ext cx="2276856" cy="2468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SemanticChunker</a:t>
            </a:r>
            <a:endParaRPr lang="en-US" sz="1180" dirty="0"/>
          </a:p>
        </p:txBody>
      </p:sp>
      <p:sp>
        <p:nvSpPr>
          <p:cNvPr id="35" name="Text 33"/>
          <p:cNvSpPr/>
          <p:nvPr/>
        </p:nvSpPr>
        <p:spPr>
          <a:xfrm>
            <a:off x="9262872" y="2331720"/>
            <a:ext cx="2276856" cy="228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true_semantic_pipeline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960120" y="3429000"/>
            <a:ext cx="4800600" cy="2011680"/>
          </a:xfrm>
          <a:prstGeom prst="roundRect">
            <a:avLst>
              <a:gd name="adj" fmla="val 3636"/>
            </a:avLst>
          </a:prstGeom>
          <a:solidFill>
            <a:srgbClr val="171C24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0" y="3657600"/>
            <a:ext cx="4343400" cy="29260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Фиксированные условия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07135" y="4049395"/>
            <a:ext cx="4278630" cy="1227455"/>
          </a:xfrm>
          <a:prstGeom prst="rect">
            <a:avLst/>
          </a:prstGeom>
          <a:noFill/>
        </p:spPr>
        <p:txBody>
          <a:bodyPr wrap="square" lIns="1778" tIns="1778" rIns="1778" bIns="1778" rtlCol="0" anchor="t">
            <a:normAutofit fontScale="90000"/>
          </a:bodyPr>
          <a:lstStyle/>
          <a:p>
            <a:r>
              <a:rPr lang="en-US" sz="12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один corpus.json
</a:t>
            </a:r>
            <a:endParaRPr lang="en-US" sz="1200" dirty="0"/>
          </a:p>
          <a:p>
            <a:r>
              <a:rPr lang="en-US" sz="12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chunk_size = 512
</a:t>
            </a:r>
            <a:endParaRPr lang="en-US" sz="1200" dirty="0"/>
          </a:p>
          <a:p>
            <a:r>
              <a:rPr lang="en-US" sz="12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retriever: k = 4
</a:t>
            </a:r>
            <a:endParaRPr lang="en-US" sz="1200" dirty="0"/>
          </a:p>
          <a:p>
            <a:r>
              <a:rPr lang="en-US" sz="12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одинаковая LLM через Groq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46520" y="3429000"/>
            <a:ext cx="4800600" cy="2011680"/>
          </a:xfrm>
          <a:prstGeom prst="roundRect">
            <a:avLst>
              <a:gd name="adj" fmla="val 3636"/>
            </a:avLst>
          </a:prstGeom>
          <a:solidFill>
            <a:srgbClr val="171C24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3657600"/>
            <a:ext cx="4343400" cy="29260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9D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Выход эксперимента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693535" y="4114800"/>
            <a:ext cx="4251960" cy="1189990"/>
          </a:xfrm>
          <a:prstGeom prst="rect">
            <a:avLst/>
          </a:prstGeom>
          <a:noFill/>
        </p:spPr>
        <p:txBody>
          <a:bodyPr wrap="square" lIns="1778" tIns="1778" rIns="1778" bIns="1778" rtlCol="0" anchor="t">
            <a:normAutofit lnSpcReduction="10000"/>
          </a:bodyPr>
          <a:lstStyle/>
          <a:p>
            <a:r>
              <a:rPr lang="en-US" sz="12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
</a:t>
            </a:r>
            <a:endParaRPr lang="en-US" sz="1200" dirty="0"/>
          </a:p>
          <a:p>
            <a:r>
              <a:rPr lang="en-US" sz="12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retrieved_chunks
</a:t>
            </a:r>
            <a:endParaRPr lang="en-US" sz="1200" dirty="0"/>
          </a:p>
          <a:p>
            <a:r>
              <a:rPr lang="en-US" sz="12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
</a:t>
            </a:r>
            <a:endParaRPr lang="en-US" sz="1200" dirty="0"/>
          </a:p>
          <a:p>
            <a:r>
              <a:rPr lang="en-US" sz="12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CSV-файлы в results/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926080" y="5852160"/>
            <a:ext cx="6309360" cy="38404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Контролируемая переменная: chunker</a:t>
            </a:r>
            <a:endParaRPr lang="en-US" sz="14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Метрики оценки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786384"/>
            <a:ext cx="11109960" cy="0"/>
          </a:xfrm>
          <a:prstGeom prst="line">
            <a:avLst/>
          </a:prstGeom>
          <a:noFill/>
          <a:ln w="1651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6C5"/>
                </a:solidFill>
              </a:rPr>
              <a:t>14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978408"/>
            <a:ext cx="10789920" cy="45720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Качество RAG оценивается на двух уровнях: поиск контекста и итоговый ответ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731520" y="1783080"/>
            <a:ext cx="5212080" cy="3017520"/>
          </a:xfrm>
          <a:prstGeom prst="roundRect">
            <a:avLst>
              <a:gd name="adj" fmla="val 2424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1783080"/>
            <a:ext cx="5212080" cy="3017520"/>
          </a:xfrm>
          <a:prstGeom prst="roundRect">
            <a:avLst>
              <a:gd name="adj" fmla="val 2424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2057400"/>
            <a:ext cx="4663440" cy="310896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quality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87552" y="2487168"/>
            <a:ext cx="4663440" cy="237744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качество найденных чанков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87552" y="2926080"/>
            <a:ext cx="4572000" cy="1078992"/>
          </a:xfrm>
          <a:prstGeom prst="rect">
            <a:avLst/>
          </a:prstGeom>
          <a:noFill/>
        </p:spPr>
        <p:txBody>
          <a:bodyPr wrap="square" lIns="1778" tIns="1778" rIns="1778" bIns="1778" rtlCol="0" anchor="t">
            <a:normAutofit/>
          </a:bodyPr>
          <a:lstStyle/>
          <a:p>
            <a:r>
              <a:rPr lang="en-US" sz="116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Hits@4 - релевантный фрагмент попал в top-4
</a:t>
            </a:r>
            <a:endParaRPr lang="en-US" sz="1160" dirty="0"/>
          </a:p>
          <a:p>
            <a:r>
              <a:rPr lang="en-US" sz="116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MAP@4 - качество ранжирования
</a:t>
            </a:r>
            <a:endParaRPr lang="en-US" sz="1160" dirty="0"/>
          </a:p>
          <a:p>
            <a:r>
              <a:rPr lang="en-US" sz="116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MRR@4 -позиция первого релевантного фрагмента</a:t>
            </a:r>
            <a:endParaRPr lang="en-US" sz="1160" dirty="0"/>
          </a:p>
        </p:txBody>
      </p:sp>
      <p:sp>
        <p:nvSpPr>
          <p:cNvPr id="29" name="Text 27"/>
          <p:cNvSpPr/>
          <p:nvPr/>
        </p:nvSpPr>
        <p:spPr>
          <a:xfrm>
            <a:off x="6519672" y="2057400"/>
            <a:ext cx="4663440" cy="310896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9D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quality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519672" y="2487168"/>
            <a:ext cx="4663440" cy="237744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качество итогового ответа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19672" y="2926080"/>
            <a:ext cx="4572000" cy="1078992"/>
          </a:xfrm>
          <a:prstGeom prst="rect">
            <a:avLst/>
          </a:prstGeom>
          <a:noFill/>
        </p:spPr>
        <p:txBody>
          <a:bodyPr wrap="square" lIns="1778" tIns="1778" rIns="1778" bIns="1778" rtlCol="0" anchor="t">
            <a:normAutofit/>
          </a:bodyPr>
          <a:lstStyle/>
          <a:p>
            <a:r>
              <a:rPr lang="en-US" sz="12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
</a:t>
            </a:r>
            <a:endParaRPr lang="en-US" sz="1220" dirty="0"/>
          </a:p>
          <a:p>
            <a:r>
              <a:rPr lang="en-US" sz="12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
</a:t>
            </a:r>
            <a:endParaRPr lang="en-US" sz="1220" dirty="0"/>
          </a:p>
          <a:p>
            <a:r>
              <a:rPr lang="en-US" sz="12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f1_score
</a:t>
            </a:r>
            <a:endParaRPr lang="en-US" sz="1220" dirty="0"/>
          </a:p>
          <a:p>
            <a:r>
              <a:rPr lang="en-US" sz="12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1143000" y="5102352"/>
            <a:ext cx="9921240" cy="1024128"/>
          </a:xfrm>
          <a:prstGeom prst="roundRect">
            <a:avLst>
              <a:gd name="adj" fmla="val 9302"/>
            </a:avLst>
          </a:prstGeom>
          <a:solidFill>
            <a:srgbClr val="0B1220"/>
          </a:solidFill>
          <a:ln w="12700">
            <a:solidFill>
              <a:srgbClr val="2432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34440" y="5175504"/>
            <a:ext cx="9738360" cy="87782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sz="1050">
                <a:solidFill>
                  <a:srgbClr val="E6EDF3"/>
                </a:solidFill>
                <a:latin typeface="Cascadia Mono" panose="020B0609020000020004"/>
              </a:rPr>
              <a:t>Вопрос → Retriever → top-4 chunks → Groq LLM → Ответ</a:t>
            </a:r>
            <a:br>
              <a:rPr sz="1050">
                <a:solidFill>
                  <a:srgbClr val="E6EDF3"/>
                </a:solidFill>
                <a:latin typeface="Cascadia Mono" panose="020B0609020000020004"/>
              </a:rPr>
            </a:br>
            <a:r>
              <a:rPr sz="1050">
                <a:solidFill>
                  <a:srgbClr val="E6EDF3"/>
                </a:solidFill>
                <a:latin typeface="Cascadia Mono" panose="020B0609020000020004"/>
              </a:rPr>
              <a:t>          ↑ retrieval metrics        ↑ QA metrics</a:t>
            </a:r>
            <a:br>
              <a:rPr sz="1050">
                <a:solidFill>
                  <a:srgbClr val="E6EDF3"/>
                </a:solidFill>
                <a:latin typeface="Cascadia Mono" panose="020B0609020000020004"/>
              </a:rPr>
            </a:br>
            <a:r>
              <a:rPr sz="1050">
                <a:solidFill>
                  <a:srgbClr val="E6EDF3"/>
                </a:solidFill>
                <a:latin typeface="Cascadia Mono" panose="020B0609020000020004"/>
              </a:rPr>
              <a:t>Отдельная проверка: top-4 chunks → evidence check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02336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12064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21792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1248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50976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60704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" y="77724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" y="155448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" y="233172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" y="310896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" y="388620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" y="466344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" y="544068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" y="621792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2400" b="1">
                <a:solidFill>
                  <a:srgbClr val="E6EDF3"/>
                </a:solidFill>
                <a:latin typeface="Aptos Display"/>
              </a:rPr>
              <a:t>Отдельная retrieval-оценка без LLM</a:t>
            </a:r>
            <a:endParaRPr sz="2400" b="1">
              <a:solidFill>
                <a:srgbClr val="E6EDF3"/>
              </a:solidFill>
              <a:latin typeface="Aptos Display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02920" y="786384"/>
            <a:ext cx="11109960" cy="0"/>
          </a:xfrm>
          <a:prstGeom prst="line">
            <a:avLst/>
          </a:prstGeom>
          <a:ln w="1524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AAB6C5"/>
                </a:solidFill>
                <a:latin typeface="Aptos"/>
              </a:rPr>
              <a:t>15</a:t>
            </a:r>
            <a:endParaRPr sz="1200" b="0">
              <a:solidFill>
                <a:srgbClr val="AAB6C5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987552"/>
            <a:ext cx="10789920" cy="27368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550" b="1">
                <a:solidFill>
                  <a:srgbClr val="E6EDF3"/>
                </a:solidFill>
                <a:latin typeface="Aptos"/>
              </a:rPr>
              <a:t>Чтобы оценить именно влияние чанкирования, была добавлена отдельная проверка без генерации ответов</a:t>
            </a:r>
            <a:endParaRPr sz="1550" b="1">
              <a:solidFill>
                <a:srgbClr val="E6EDF3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85800" y="1691640"/>
            <a:ext cx="5257800" cy="3154680"/>
          </a:xfrm>
          <a:prstGeom prst="round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63640" y="1691640"/>
            <a:ext cx="5257800" cy="3154680"/>
          </a:xfrm>
          <a:prstGeom prst="round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1938528"/>
            <a:ext cx="46634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500" b="1">
                <a:solidFill>
                  <a:srgbClr val="58A6FF"/>
                </a:solidFill>
                <a:latin typeface="Aptos"/>
              </a:rPr>
              <a:t>Полный RAG</a:t>
            </a:r>
            <a:endParaRPr sz="1500" b="1">
              <a:solidFill>
                <a:srgbClr val="58A6FF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37960" y="1938528"/>
            <a:ext cx="46634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500" b="1">
                <a:solidFill>
                  <a:srgbClr val="39D5D6"/>
                </a:solidFill>
                <a:latin typeface="Aptos"/>
              </a:rPr>
              <a:t>Retrieval-only</a:t>
            </a:r>
            <a:endParaRPr sz="1500" b="1">
              <a:solidFill>
                <a:srgbClr val="39D5D6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60120" y="2487168"/>
            <a:ext cx="4617720" cy="822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2651760"/>
            <a:ext cx="4315968" cy="4754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20" b="1">
                <a:solidFill>
                  <a:srgbClr val="E6EDF3"/>
                </a:solidFill>
                <a:latin typeface="Cascadia Mono" panose="020B0609020000020004"/>
              </a:rPr>
              <a:t>query → retriever → top-4 chunks</a:t>
            </a:r>
            <a:br>
              <a:rPr sz="1220" b="1">
                <a:solidFill>
                  <a:srgbClr val="E6EDF3"/>
                </a:solidFill>
                <a:latin typeface="Cascadia Mono" panose="020B0609020000020004"/>
              </a:rPr>
            </a:br>
            <a:r>
              <a:rPr sz="1220" b="1">
                <a:solidFill>
                  <a:srgbClr val="E6EDF3"/>
                </a:solidFill>
                <a:latin typeface="Cascadia Mono" panose="020B0609020000020004"/>
              </a:rPr>
              <a:t>              → LLM → answer</a:t>
            </a:r>
            <a:endParaRPr sz="1220" b="1">
              <a:solidFill>
                <a:srgbClr val="E6EDF3"/>
              </a:solidFill>
              <a:latin typeface="Cascadia Mono" panose="020B06090200000200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60120" y="3703320"/>
            <a:ext cx="4617720" cy="4508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50" b="0">
                <a:solidFill>
                  <a:srgbClr val="AAB6C5"/>
                </a:solidFill>
                <a:latin typeface="Aptos"/>
              </a:rPr>
              <a:t>Оценивается и поиск контекста,</a:t>
            </a:r>
            <a:br>
              <a:rPr sz="1350" b="0">
                <a:solidFill>
                  <a:srgbClr val="AAB6C5"/>
                </a:solidFill>
                <a:latin typeface="Aptos"/>
              </a:rPr>
            </a:br>
            <a:r>
              <a:rPr sz="1350" b="0">
                <a:solidFill>
                  <a:srgbClr val="AAB6C5"/>
                </a:solidFill>
                <a:latin typeface="Aptos"/>
              </a:rPr>
              <a:t>и качество итогового ответа</a:t>
            </a:r>
            <a:endParaRPr sz="1350" b="0">
              <a:solidFill>
                <a:srgbClr val="AAB6C5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537960" y="2487168"/>
            <a:ext cx="4617720" cy="822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3408" y="2651760"/>
            <a:ext cx="4315968" cy="4754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20" b="1">
                <a:solidFill>
                  <a:srgbClr val="E6EDF3"/>
                </a:solidFill>
                <a:latin typeface="Cascadia Mono" panose="020B0609020000020004"/>
              </a:rPr>
              <a:t>query → retriever → top-4 chunks</a:t>
            </a:r>
            <a:br>
              <a:rPr sz="1220" b="1">
                <a:solidFill>
                  <a:srgbClr val="E6EDF3"/>
                </a:solidFill>
                <a:latin typeface="Cascadia Mono" panose="020B0609020000020004"/>
              </a:rPr>
            </a:br>
            <a:r>
              <a:rPr sz="1220" b="1">
                <a:solidFill>
                  <a:srgbClr val="E6EDF3"/>
                </a:solidFill>
                <a:latin typeface="Cascadia Mono" panose="020B0609020000020004"/>
              </a:rPr>
              <a:t>          → evidence check</a:t>
            </a:r>
            <a:endParaRPr sz="1220" b="1">
              <a:solidFill>
                <a:srgbClr val="E6EDF3"/>
              </a:solidFill>
              <a:latin typeface="Cascadia Mono" panose="020B06090200000200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37960" y="3703320"/>
            <a:ext cx="4617720" cy="4508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50" b="0">
                <a:solidFill>
                  <a:srgbClr val="AAB6C5"/>
                </a:solidFill>
                <a:latin typeface="Aptos"/>
              </a:rPr>
              <a:t>Оценивается только качество</a:t>
            </a:r>
            <a:br>
              <a:rPr sz="1350" b="0">
                <a:solidFill>
                  <a:srgbClr val="AAB6C5"/>
                </a:solidFill>
                <a:latin typeface="Aptos"/>
              </a:rPr>
            </a:br>
            <a:r>
              <a:rPr sz="1350" b="0">
                <a:solidFill>
                  <a:srgbClr val="AAB6C5"/>
                </a:solidFill>
                <a:latin typeface="Aptos"/>
              </a:rPr>
              <a:t>найденных чанков</a:t>
            </a:r>
            <a:endParaRPr sz="1350" b="0">
              <a:solidFill>
                <a:srgbClr val="AAB6C5"/>
              </a:solidFill>
              <a:latin typeface="Apto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051560" y="5248656"/>
            <a:ext cx="10104120" cy="8046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4440" y="5521008"/>
            <a:ext cx="9738360" cy="25082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0">
                <a:solidFill>
                  <a:srgbClr val="E6EDF3"/>
                </a:solidFill>
                <a:latin typeface="Aptos"/>
              </a:rPr>
              <a:t>Так можно отделить качество retrieval от качества генерации и проверить, как chunker влияет на найденный контекст</a:t>
            </a:r>
            <a:endParaRPr sz="1400" b="0">
              <a:solidFill>
                <a:srgbClr val="E6EDF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02336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12064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21792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1248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50976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60704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" y="77724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" y="155448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" y="233172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" y="310896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" y="388620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" y="466344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" y="544068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" y="621792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2400" b="1">
                <a:solidFill>
                  <a:srgbClr val="E6EDF3"/>
                </a:solidFill>
                <a:latin typeface="Aptos Display"/>
              </a:rPr>
              <a:t>Механизм строгой retrieval-проверки</a:t>
            </a:r>
            <a:endParaRPr sz="2400" b="1">
              <a:solidFill>
                <a:srgbClr val="E6EDF3"/>
              </a:solidFill>
              <a:latin typeface="Aptos Display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02920" y="786384"/>
            <a:ext cx="11109960" cy="0"/>
          </a:xfrm>
          <a:prstGeom prst="line">
            <a:avLst/>
          </a:prstGeom>
          <a:ln w="1524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AAB6C5"/>
                </a:solidFill>
                <a:latin typeface="Aptos"/>
              </a:rPr>
              <a:t>16</a:t>
            </a:r>
            <a:endParaRPr sz="1200" b="0">
              <a:solidFill>
                <a:srgbClr val="AAB6C5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987552"/>
            <a:ext cx="1078992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550" b="1">
                <a:solidFill>
                  <a:srgbClr val="E6EDF3"/>
                </a:solidFill>
                <a:latin typeface="Aptos"/>
              </a:rPr>
              <a:t>Проверка сравнивает найденные top-4 чанки с эталонными evidence-фактами из датасета.</a:t>
            </a:r>
            <a:endParaRPr sz="1550" b="1">
              <a:solidFill>
                <a:srgbClr val="E6EDF3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77240" y="1691640"/>
            <a:ext cx="4754880" cy="4023360"/>
          </a:xfrm>
          <a:prstGeom prst="round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1901952"/>
            <a:ext cx="42062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500" b="1">
                <a:solidFill>
                  <a:srgbClr val="58A6FF"/>
                </a:solidFill>
                <a:latin typeface="Aptos"/>
              </a:rPr>
              <a:t>Pipeline оценки</a:t>
            </a:r>
            <a:endParaRPr sz="1500" b="1">
              <a:solidFill>
                <a:srgbClr val="58A6FF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417320" y="2395728"/>
            <a:ext cx="3474720" cy="38404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58A6FF"/>
                </a:solidFill>
                <a:latin typeface="Aptos"/>
              </a:rPr>
              <a:t>query</a:t>
            </a:r>
            <a:endParaRPr sz="1200" b="1">
              <a:solidFill>
                <a:srgbClr val="58A6FF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999232" y="2798064"/>
            <a:ext cx="27432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58A6FF"/>
                </a:solidFill>
                <a:latin typeface="Aptos"/>
              </a:rPr>
              <a:t>↓</a:t>
            </a:r>
            <a:endParaRPr sz="1500" b="1">
              <a:solidFill>
                <a:srgbClr val="58A6FF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417320" y="3054096"/>
            <a:ext cx="3474720" cy="38404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E6EDF3"/>
                </a:solidFill>
                <a:latin typeface="Aptos"/>
              </a:rPr>
              <a:t>Retriever</a:t>
            </a:r>
            <a:endParaRPr sz="1200" b="1">
              <a:solidFill>
                <a:srgbClr val="E6EDF3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999232" y="3456432"/>
            <a:ext cx="27432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58A6FF"/>
                </a:solidFill>
                <a:latin typeface="Aptos"/>
              </a:rPr>
              <a:t>↓</a:t>
            </a:r>
            <a:endParaRPr sz="1500" b="1">
              <a:solidFill>
                <a:srgbClr val="58A6FF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417320" y="3712463"/>
            <a:ext cx="3474720" cy="38404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E6EDF3"/>
                </a:solidFill>
                <a:latin typeface="Aptos"/>
              </a:rPr>
              <a:t>top-4 chunks</a:t>
            </a:r>
            <a:endParaRPr sz="1200" b="1">
              <a:solidFill>
                <a:srgbClr val="E6EDF3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999232" y="4114800"/>
            <a:ext cx="27432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58A6FF"/>
                </a:solidFill>
                <a:latin typeface="Aptos"/>
              </a:rPr>
              <a:t>↓</a:t>
            </a:r>
            <a:endParaRPr sz="1500" b="1">
              <a:solidFill>
                <a:srgbClr val="58A6FF"/>
              </a:solidFill>
              <a:latin typeface="Apto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417320" y="4370831"/>
            <a:ext cx="3474720" cy="38404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FFD43B"/>
                </a:solidFill>
                <a:latin typeface="Aptos"/>
              </a:rPr>
              <a:t>evidence_list.fact</a:t>
            </a:r>
            <a:endParaRPr sz="1200" b="1">
              <a:solidFill>
                <a:srgbClr val="FFD43B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999232" y="4773168"/>
            <a:ext cx="27432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58A6FF"/>
                </a:solidFill>
                <a:latin typeface="Aptos"/>
              </a:rPr>
              <a:t>↓</a:t>
            </a:r>
            <a:endParaRPr sz="1500" b="1">
              <a:solidFill>
                <a:srgbClr val="58A6FF"/>
              </a:solidFill>
              <a:latin typeface="Apto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417320" y="5029199"/>
            <a:ext cx="3474720" cy="38404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7EE787"/>
                </a:solidFill>
                <a:latin typeface="Aptos"/>
              </a:rPr>
              <a:t>Hits@4 / MAP@4 / MRR@4</a:t>
            </a:r>
            <a:endParaRPr sz="1200" b="1">
              <a:solidFill>
                <a:srgbClr val="7EE787"/>
              </a:solidFill>
              <a:latin typeface="Apto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989320" y="1691640"/>
            <a:ext cx="5257800" cy="4023360"/>
          </a:xfrm>
          <a:prstGeom prst="round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1901952"/>
            <a:ext cx="46634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500" b="1">
                <a:solidFill>
                  <a:srgbClr val="39D5D6"/>
                </a:solidFill>
                <a:latin typeface="Aptos"/>
              </a:rPr>
              <a:t>Строгий критерий релевантности</a:t>
            </a:r>
            <a:endParaRPr sz="1500" b="1">
              <a:solidFill>
                <a:srgbClr val="39D5D6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263640" y="2487168"/>
            <a:ext cx="4663440" cy="1508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>
                <a:solidFill>
                  <a:srgbClr val="E6EDF3"/>
                </a:solidFill>
                <a:latin typeface="Aptos"/>
              </a:rPr>
              <a:t>1. из evidence_list берётся только поле fact;</a:t>
            </a:r>
            <a:endParaRPr sz="1280">
              <a:solidFill>
                <a:srgbClr val="E6EDF3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sz="1280">
                <a:solidFill>
                  <a:srgbClr val="E6EDF3"/>
                </a:solidFill>
                <a:latin typeface="Aptos"/>
              </a:rPr>
              <a:t>2. chunk релевантен, если fact дословно входит в текст chunk;</a:t>
            </a:r>
            <a:endParaRPr sz="1280">
              <a:solidFill>
                <a:srgbClr val="E6EDF3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sz="1280">
                <a:solidFill>
                  <a:srgbClr val="E6EDF3"/>
                </a:solidFill>
                <a:latin typeface="Aptos"/>
              </a:rPr>
              <a:t>3. null_query исключаются из расчёта.</a:t>
            </a:r>
            <a:endParaRPr sz="1280">
              <a:solidFill>
                <a:srgbClr val="E6EDF3"/>
              </a:solidFill>
              <a:latin typeface="Apto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400800" y="4434840"/>
            <a:ext cx="4434840" cy="6400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5392" y="4553712"/>
            <a:ext cx="411480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FFD43B"/>
                </a:solidFill>
                <a:latin typeface="Cascadia Mono" panose="020B0609020000020004"/>
              </a:rPr>
              <a:t>chunkers_retrieval.ipynb</a:t>
            </a:r>
            <a:endParaRPr sz="1300" b="1">
              <a:solidFill>
                <a:srgbClr val="FFD43B"/>
              </a:solidFill>
              <a:latin typeface="Cascadia Mono" panose="020B0609020000020004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051560" y="5806440"/>
            <a:ext cx="10104120" cy="329184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4440" y="5852160"/>
            <a:ext cx="9738360" cy="21209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50" b="0">
                <a:solidFill>
                  <a:srgbClr val="AAB6C5"/>
                </a:solidFill>
                <a:latin typeface="Aptos"/>
              </a:rPr>
              <a:t>Такая проверка сопоставима с основной логикой оценки retrieval и не требует запуска LLM</a:t>
            </a:r>
            <a:endParaRPr lang="en-US" sz="1150" b="0">
              <a:solidFill>
                <a:srgbClr val="AAB6C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02336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12064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21792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1248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50976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60704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" y="77724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" y="155448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" y="233172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" y="310896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" y="388620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" y="466344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" y="544068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" y="621792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2400" b="1">
                <a:solidFill>
                  <a:srgbClr val="E6EDF3"/>
                </a:solidFill>
                <a:latin typeface="Aptos Display"/>
              </a:rPr>
              <a:t>Результаты строгой retrieval-проверки</a:t>
            </a:r>
            <a:endParaRPr sz="2400" b="1">
              <a:solidFill>
                <a:srgbClr val="E6EDF3"/>
              </a:solidFill>
              <a:latin typeface="Aptos Display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02920" y="786384"/>
            <a:ext cx="11109960" cy="0"/>
          </a:xfrm>
          <a:prstGeom prst="line">
            <a:avLst/>
          </a:prstGeom>
          <a:ln w="1524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AAB6C5"/>
                </a:solidFill>
                <a:latin typeface="Aptos"/>
              </a:rPr>
              <a:t>17</a:t>
            </a:r>
            <a:endParaRPr sz="1200" b="0">
              <a:solidFill>
                <a:srgbClr val="AAB6C5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987552"/>
            <a:ext cx="1078992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520" b="1">
                <a:solidFill>
                  <a:srgbClr val="E6EDF3"/>
                </a:solidFill>
                <a:latin typeface="Aptos"/>
              </a:rPr>
              <a:t>Метрики показывают, насколько часто каждая стратегия находит evidence-факт среди top-4 чанков.</a:t>
            </a:r>
            <a:endParaRPr sz="1520" b="1">
              <a:solidFill>
                <a:srgbClr val="E6EDF3"/>
              </a:solidFill>
              <a:latin typeface="Apto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85800" y="1664208"/>
            <a:ext cx="2971800" cy="502920"/>
          </a:xfrm>
          <a:prstGeom prst="rect">
            <a:avLst/>
          </a:prstGeom>
          <a:solidFill>
            <a:srgbClr val="58A6FF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1792224"/>
            <a:ext cx="28803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50" b="1">
                <a:solidFill>
                  <a:srgbClr val="E6EDF3"/>
                </a:solidFill>
                <a:latin typeface="Aptos"/>
              </a:rPr>
              <a:t>Стратегия</a:t>
            </a:r>
            <a:endParaRPr sz="1150" b="1">
              <a:solidFill>
                <a:srgbClr val="E6EDF3"/>
              </a:solidFill>
              <a:latin typeface="Apto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657600" y="1664208"/>
            <a:ext cx="1143000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1792224"/>
            <a:ext cx="10515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50" b="1">
                <a:solidFill>
                  <a:srgbClr val="E6EDF3"/>
                </a:solidFill>
                <a:latin typeface="Aptos"/>
              </a:rPr>
              <a:t>Hits@4</a:t>
            </a:r>
            <a:endParaRPr sz="1150" b="1">
              <a:solidFill>
                <a:srgbClr val="E6EDF3"/>
              </a:solidFill>
              <a:latin typeface="Apto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800600" y="1664208"/>
            <a:ext cx="1143000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1792224"/>
            <a:ext cx="10515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50" b="1">
                <a:solidFill>
                  <a:srgbClr val="E6EDF3"/>
                </a:solidFill>
                <a:latin typeface="Aptos"/>
              </a:rPr>
              <a:t>MAP@4</a:t>
            </a:r>
            <a:endParaRPr sz="1150" b="1">
              <a:solidFill>
                <a:srgbClr val="E6EDF3"/>
              </a:solidFill>
              <a:latin typeface="Apto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943600" y="1664208"/>
            <a:ext cx="1143000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320" y="1792224"/>
            <a:ext cx="10515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50" b="1">
                <a:solidFill>
                  <a:srgbClr val="E6EDF3"/>
                </a:solidFill>
                <a:latin typeface="Aptos"/>
              </a:rPr>
              <a:t>MRR@4</a:t>
            </a:r>
            <a:endParaRPr sz="1150" b="1">
              <a:solidFill>
                <a:srgbClr val="E6EDF3"/>
              </a:solidFill>
              <a:latin typeface="Apto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85800" y="2167128"/>
            <a:ext cx="2971800" cy="502920"/>
          </a:xfrm>
          <a:prstGeom prst="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2295144"/>
            <a:ext cx="28803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30" b="0">
                <a:solidFill>
                  <a:srgbClr val="E6EDF3"/>
                </a:solidFill>
                <a:latin typeface="Aptos"/>
              </a:rPr>
              <a:t>SemanticChunker</a:t>
            </a:r>
            <a:endParaRPr sz="113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657600" y="2167128"/>
            <a:ext cx="1143000" cy="502920"/>
          </a:xfrm>
          <a:prstGeom prst="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2295144"/>
            <a:ext cx="10515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30" b="1">
                <a:solidFill>
                  <a:srgbClr val="FFD43B"/>
                </a:solidFill>
                <a:latin typeface="Aptos"/>
              </a:rPr>
              <a:t>0.374</a:t>
            </a:r>
            <a:endParaRPr sz="1130" b="1">
              <a:solidFill>
                <a:srgbClr val="FFD43B"/>
              </a:solidFill>
              <a:latin typeface="Apto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800600" y="2167128"/>
            <a:ext cx="1143000" cy="502920"/>
          </a:xfrm>
          <a:prstGeom prst="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0" y="2295144"/>
            <a:ext cx="10515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30" b="1">
                <a:solidFill>
                  <a:srgbClr val="FFD43B"/>
                </a:solidFill>
                <a:latin typeface="Aptos"/>
              </a:rPr>
              <a:t>0.124</a:t>
            </a:r>
            <a:endParaRPr sz="1130" b="1">
              <a:solidFill>
                <a:srgbClr val="FFD43B"/>
              </a:solidFill>
              <a:latin typeface="Apto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943600" y="2167128"/>
            <a:ext cx="1143000" cy="502920"/>
          </a:xfrm>
          <a:prstGeom prst="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89320" y="2295144"/>
            <a:ext cx="10515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30" b="0">
                <a:solidFill>
                  <a:srgbClr val="E6EDF3"/>
                </a:solidFill>
                <a:latin typeface="Aptos"/>
              </a:rPr>
              <a:t>0.246</a:t>
            </a:r>
            <a:endParaRPr sz="113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85800" y="2670048"/>
            <a:ext cx="2971800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2798064"/>
            <a:ext cx="28803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30" b="0">
                <a:solidFill>
                  <a:srgbClr val="E6EDF3"/>
                </a:solidFill>
                <a:latin typeface="Aptos"/>
              </a:rPr>
              <a:t>RecursiveChunker</a:t>
            </a:r>
            <a:endParaRPr sz="113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657600" y="2670048"/>
            <a:ext cx="1143000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03320" y="2798064"/>
            <a:ext cx="10515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30" b="0">
                <a:solidFill>
                  <a:srgbClr val="E6EDF3"/>
                </a:solidFill>
                <a:latin typeface="Aptos"/>
              </a:rPr>
              <a:t>0.363</a:t>
            </a:r>
            <a:endParaRPr sz="113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800600" y="2670048"/>
            <a:ext cx="1143000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6320" y="2798064"/>
            <a:ext cx="10515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30" b="0">
                <a:solidFill>
                  <a:srgbClr val="E6EDF3"/>
                </a:solidFill>
                <a:latin typeface="Aptos"/>
              </a:rPr>
              <a:t>0.113</a:t>
            </a:r>
            <a:endParaRPr sz="113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943600" y="2670048"/>
            <a:ext cx="1143000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89320" y="2798064"/>
            <a:ext cx="10515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30" b="1">
                <a:solidFill>
                  <a:srgbClr val="FFD43B"/>
                </a:solidFill>
                <a:latin typeface="Aptos"/>
              </a:rPr>
              <a:t>0.257</a:t>
            </a:r>
            <a:endParaRPr sz="1130" b="1">
              <a:solidFill>
                <a:srgbClr val="FFD43B"/>
              </a:solidFill>
              <a:latin typeface="Apto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85800" y="3172968"/>
            <a:ext cx="2971800" cy="502920"/>
          </a:xfrm>
          <a:prstGeom prst="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3300984"/>
            <a:ext cx="28803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30" b="0">
                <a:solidFill>
                  <a:srgbClr val="E6EDF3"/>
                </a:solidFill>
                <a:latin typeface="Aptos"/>
              </a:rPr>
              <a:t>NLTK sentence-based</a:t>
            </a:r>
            <a:endParaRPr sz="113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657600" y="3172968"/>
            <a:ext cx="1143000" cy="502920"/>
          </a:xfrm>
          <a:prstGeom prst="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03320" y="3300984"/>
            <a:ext cx="10515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30" b="0">
                <a:solidFill>
                  <a:srgbClr val="E6EDF3"/>
                </a:solidFill>
                <a:latin typeface="Aptos"/>
              </a:rPr>
              <a:t>0.341</a:t>
            </a:r>
            <a:endParaRPr sz="113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800600" y="3172968"/>
            <a:ext cx="1143000" cy="502920"/>
          </a:xfrm>
          <a:prstGeom prst="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46320" y="3300984"/>
            <a:ext cx="10515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30" b="0">
                <a:solidFill>
                  <a:srgbClr val="E6EDF3"/>
                </a:solidFill>
                <a:latin typeface="Aptos"/>
              </a:rPr>
              <a:t>0.100</a:t>
            </a:r>
            <a:endParaRPr sz="113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943600" y="3172968"/>
            <a:ext cx="1143000" cy="502920"/>
          </a:xfrm>
          <a:prstGeom prst="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89320" y="3300984"/>
            <a:ext cx="10515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30" b="0">
                <a:solidFill>
                  <a:srgbClr val="E6EDF3"/>
                </a:solidFill>
                <a:latin typeface="Aptos"/>
              </a:rPr>
              <a:t>0.212</a:t>
            </a:r>
            <a:endParaRPr sz="113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685800" y="3675888"/>
            <a:ext cx="2971800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3803904"/>
            <a:ext cx="28803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30" b="0">
                <a:solidFill>
                  <a:srgbClr val="E6EDF3"/>
                </a:solidFill>
                <a:latin typeface="Aptos"/>
              </a:rPr>
              <a:t>FixedChunker</a:t>
            </a:r>
            <a:endParaRPr sz="113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3657600" y="3675888"/>
            <a:ext cx="1143000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03320" y="3803904"/>
            <a:ext cx="10515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30" b="0">
                <a:solidFill>
                  <a:srgbClr val="E6EDF3"/>
                </a:solidFill>
                <a:latin typeface="Aptos"/>
              </a:rPr>
              <a:t>0.330</a:t>
            </a:r>
            <a:endParaRPr sz="113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800600" y="3675888"/>
            <a:ext cx="1143000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46320" y="3803904"/>
            <a:ext cx="10515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30" b="0">
                <a:solidFill>
                  <a:srgbClr val="E6EDF3"/>
                </a:solidFill>
                <a:latin typeface="Aptos"/>
              </a:rPr>
              <a:t>0.085</a:t>
            </a:r>
            <a:endParaRPr sz="113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943600" y="3675888"/>
            <a:ext cx="1143000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89320" y="3803904"/>
            <a:ext cx="10515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30" b="0">
                <a:solidFill>
                  <a:srgbClr val="E6EDF3"/>
                </a:solidFill>
                <a:latin typeface="Aptos"/>
              </a:rPr>
              <a:t>0.195</a:t>
            </a:r>
            <a:endParaRPr sz="113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7315200" y="1664208"/>
            <a:ext cx="4160520" cy="868680"/>
          </a:xfrm>
          <a:prstGeom prst="round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43800" y="1847088"/>
            <a:ext cx="370332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>
                <a:solidFill>
                  <a:srgbClr val="FFD43B"/>
                </a:solidFill>
                <a:latin typeface="Aptos"/>
              </a:rPr>
              <a:t>SemanticChunker</a:t>
            </a:r>
            <a:endParaRPr sz="1400" b="1">
              <a:solidFill>
                <a:srgbClr val="FFD43B"/>
              </a:solidFill>
              <a:latin typeface="Apto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543800" y="2130552"/>
            <a:ext cx="37033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50" b="0">
                <a:solidFill>
                  <a:srgbClr val="E6EDF3"/>
                </a:solidFill>
                <a:latin typeface="Aptos"/>
              </a:rPr>
              <a:t>лучший Hits@4 и MAP@4</a:t>
            </a:r>
            <a:endParaRPr sz="115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7315200" y="2788920"/>
            <a:ext cx="4160520" cy="868680"/>
          </a:xfrm>
          <a:prstGeom prst="round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43800" y="2971800"/>
            <a:ext cx="370332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>
                <a:solidFill>
                  <a:srgbClr val="39D5D6"/>
                </a:solidFill>
                <a:latin typeface="Aptos"/>
              </a:rPr>
              <a:t>RecursiveChunker</a:t>
            </a:r>
            <a:endParaRPr sz="1400" b="1">
              <a:solidFill>
                <a:srgbClr val="39D5D6"/>
              </a:solidFill>
              <a:latin typeface="Apto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543800" y="3255264"/>
            <a:ext cx="37033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50" b="0">
                <a:solidFill>
                  <a:srgbClr val="E6EDF3"/>
                </a:solidFill>
                <a:latin typeface="Aptos"/>
              </a:rPr>
              <a:t>лучший MRR@4</a:t>
            </a:r>
            <a:endParaRPr sz="115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7315200" y="3913632"/>
            <a:ext cx="4160520" cy="868680"/>
          </a:xfrm>
          <a:prstGeom prst="round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43800" y="4096512"/>
            <a:ext cx="370332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>
                <a:solidFill>
                  <a:srgbClr val="58A6FF"/>
                </a:solidFill>
                <a:latin typeface="Aptos"/>
              </a:rPr>
              <a:t>FixedChunker</a:t>
            </a:r>
            <a:endParaRPr sz="1400" b="1">
              <a:solidFill>
                <a:srgbClr val="58A6FF"/>
              </a:solidFill>
              <a:latin typeface="Apto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543800" y="4379976"/>
            <a:ext cx="37033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50" b="0">
                <a:solidFill>
                  <a:srgbClr val="E6EDF3"/>
                </a:solidFill>
                <a:latin typeface="Aptos"/>
              </a:rPr>
              <a:t>baseline для сравнения</a:t>
            </a:r>
            <a:endParaRPr sz="115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1051560" y="5532120"/>
            <a:ext cx="10104120" cy="5943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234440" y="5650992"/>
            <a:ext cx="9738360" cy="41973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50" b="0">
                <a:solidFill>
                  <a:srgbClr val="E6EDF3"/>
                </a:solidFill>
                <a:latin typeface="Aptos"/>
              </a:rPr>
              <a:t>SemanticChunker чаще находит релевантный evidence-факт, а RecursiveChunker немного выше ранжирует первый релевантный chunk</a:t>
            </a:r>
            <a:endParaRPr sz="1250" b="0">
              <a:solidFill>
                <a:srgbClr val="E6EDF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02336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12064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21792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1248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50976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60704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" y="77724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" y="155448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" y="233172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" y="310896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" y="388620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" y="466344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" y="544068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" y="621792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2400" b="1">
                <a:solidFill>
                  <a:srgbClr val="E6EDF3"/>
                </a:solidFill>
                <a:latin typeface="Aptos Display"/>
              </a:rPr>
              <a:t>Интерпретация результатов</a:t>
            </a:r>
            <a:endParaRPr sz="2400" b="1">
              <a:solidFill>
                <a:srgbClr val="E6EDF3"/>
              </a:solidFill>
              <a:latin typeface="Aptos Display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02920" y="786384"/>
            <a:ext cx="11109960" cy="0"/>
          </a:xfrm>
          <a:prstGeom prst="line">
            <a:avLst/>
          </a:prstGeom>
          <a:ln w="1524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AAB6C5"/>
                </a:solidFill>
                <a:latin typeface="Aptos"/>
              </a:rPr>
              <a:t>18</a:t>
            </a:r>
            <a:endParaRPr sz="1200" b="0">
              <a:solidFill>
                <a:srgbClr val="AAB6C5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987552"/>
            <a:ext cx="10789920" cy="50228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520" b="1">
                <a:solidFill>
                  <a:srgbClr val="E6EDF3"/>
                </a:solidFill>
                <a:latin typeface="Aptos"/>
              </a:rPr>
              <a:t>Разные стратегии выигрывают по разным метрикам, поэтому качество чанкирования нужно оценивать экспериментально</a:t>
            </a:r>
            <a:endParaRPr sz="1520" b="1">
              <a:solidFill>
                <a:srgbClr val="E6EDF3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85800" y="1783080"/>
            <a:ext cx="2606040" cy="3108960"/>
          </a:xfrm>
          <a:prstGeom prst="round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2011680"/>
            <a:ext cx="227685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60" b="1">
                <a:solidFill>
                  <a:srgbClr val="FFD43B"/>
                </a:solidFill>
                <a:latin typeface="Aptos"/>
              </a:rPr>
              <a:t>SemanticChunker</a:t>
            </a:r>
            <a:endParaRPr sz="1260" b="1">
              <a:solidFill>
                <a:srgbClr val="FFD43B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" y="2615184"/>
            <a:ext cx="214884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E6EDF3"/>
                </a:solidFill>
                <a:latin typeface="Aptos"/>
              </a:rPr>
              <a:t>+ лучший Hits@4</a:t>
            </a:r>
            <a:br>
              <a:rPr sz="1200" b="1">
                <a:solidFill>
                  <a:srgbClr val="E6EDF3"/>
                </a:solidFill>
                <a:latin typeface="Aptos"/>
              </a:rPr>
            </a:br>
            <a:r>
              <a:rPr sz="1200" b="1">
                <a:solidFill>
                  <a:srgbClr val="E6EDF3"/>
                </a:solidFill>
                <a:latin typeface="Aptos"/>
              </a:rPr>
              <a:t>+ лучший MAP@4</a:t>
            </a:r>
            <a:endParaRPr sz="1200" b="1">
              <a:solidFill>
                <a:srgbClr val="E6EDF3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4400" y="3767328"/>
            <a:ext cx="214884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80" b="0">
                <a:solidFill>
                  <a:srgbClr val="AAB6C5"/>
                </a:solidFill>
                <a:latin typeface="Aptos"/>
              </a:rPr>
              <a:t>чаще находит хотя бы один evidence-факт</a:t>
            </a:r>
            <a:endParaRPr sz="1080" b="0">
              <a:solidFill>
                <a:srgbClr val="AAB6C5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520440" y="1783080"/>
            <a:ext cx="2606040" cy="3108960"/>
          </a:xfrm>
          <a:prstGeom prst="round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85032" y="2011680"/>
            <a:ext cx="227685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60" b="1">
                <a:solidFill>
                  <a:srgbClr val="39D5D6"/>
                </a:solidFill>
                <a:latin typeface="Aptos"/>
              </a:rPr>
              <a:t>RecursiveChunker</a:t>
            </a:r>
            <a:endParaRPr sz="1260" b="1">
              <a:solidFill>
                <a:srgbClr val="39D5D6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749039" y="2615184"/>
            <a:ext cx="214884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E6EDF3"/>
                </a:solidFill>
                <a:latin typeface="Aptos"/>
              </a:rPr>
              <a:t>+ лучший MRR@4</a:t>
            </a:r>
            <a:endParaRPr sz="1200" b="1">
              <a:solidFill>
                <a:srgbClr val="E6EDF3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749039" y="3767328"/>
            <a:ext cx="214884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80" b="0">
                <a:solidFill>
                  <a:srgbClr val="AAB6C5"/>
                </a:solidFill>
                <a:latin typeface="Aptos"/>
              </a:rPr>
              <a:t>первый релевантный chunk выше в выдаче</a:t>
            </a:r>
            <a:endParaRPr sz="1080" b="0">
              <a:solidFill>
                <a:srgbClr val="AAB6C5"/>
              </a:solidFill>
              <a:latin typeface="Apto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355080" y="1783080"/>
            <a:ext cx="2606040" cy="3108960"/>
          </a:xfrm>
          <a:prstGeom prst="round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9672" y="2011680"/>
            <a:ext cx="227685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60" b="1">
                <a:solidFill>
                  <a:srgbClr val="7EE787"/>
                </a:solidFill>
                <a:latin typeface="Aptos"/>
              </a:rPr>
              <a:t>NltkSemanticChunker</a:t>
            </a:r>
            <a:endParaRPr sz="1260" b="1">
              <a:solidFill>
                <a:srgbClr val="7EE787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583680" y="2615184"/>
            <a:ext cx="214884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E6EDF3"/>
                </a:solidFill>
                <a:latin typeface="Aptos"/>
              </a:rPr>
              <a:t>+ sentence-based baseline</a:t>
            </a:r>
            <a:endParaRPr sz="1200" b="1">
              <a:solidFill>
                <a:srgbClr val="E6EDF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83680" y="3767328"/>
            <a:ext cx="214884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80" b="0">
                <a:solidFill>
                  <a:srgbClr val="AAB6C5"/>
                </a:solidFill>
                <a:latin typeface="Aptos"/>
              </a:rPr>
              <a:t>сохраняет предложения, но не ищет смысловые переходы</a:t>
            </a:r>
            <a:endParaRPr sz="1080" b="0">
              <a:solidFill>
                <a:srgbClr val="AAB6C5"/>
              </a:solidFill>
              <a:latin typeface="Apto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189720" y="1783080"/>
            <a:ext cx="2606040" cy="3108960"/>
          </a:xfrm>
          <a:prstGeom prst="round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2011680"/>
            <a:ext cx="227685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60" b="1">
                <a:solidFill>
                  <a:srgbClr val="58A6FF"/>
                </a:solidFill>
                <a:latin typeface="Aptos"/>
              </a:rPr>
              <a:t>FixedChunker</a:t>
            </a:r>
            <a:endParaRPr sz="1260" b="1">
              <a:solidFill>
                <a:srgbClr val="58A6FF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418320" y="2615184"/>
            <a:ext cx="214884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E6EDF3"/>
                </a:solidFill>
                <a:latin typeface="Aptos"/>
              </a:rPr>
              <a:t>+ простой baseline</a:t>
            </a:r>
            <a:endParaRPr sz="1200" b="1">
              <a:solidFill>
                <a:srgbClr val="E6EDF3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418320" y="3767328"/>
            <a:ext cx="214884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80" b="0">
                <a:solidFill>
                  <a:srgbClr val="AAB6C5"/>
                </a:solidFill>
                <a:latin typeface="Aptos"/>
              </a:rPr>
              <a:t>не учитывает структуру и смысловые границы</a:t>
            </a:r>
            <a:endParaRPr sz="1080" b="0">
              <a:solidFill>
                <a:srgbClr val="AAB6C5"/>
              </a:solidFill>
              <a:latin typeface="Aptos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051560" y="5440680"/>
            <a:ext cx="10104120" cy="65836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4440" y="5568696"/>
            <a:ext cx="9738360" cy="2324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80" b="0">
                <a:solidFill>
                  <a:srgbClr val="E6EDF3"/>
                </a:solidFill>
                <a:latin typeface="Aptos"/>
              </a:rPr>
              <a:t>Semantic chunking полезен для точного поиска evidence-фактов, но итоговый выбор стратегии зависит от метрики и задачи</a:t>
            </a:r>
            <a:endParaRPr sz="1280" b="0">
              <a:solidFill>
                <a:srgbClr val="E6EDF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02336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12064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21792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1248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50976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60704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" y="77724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" y="155448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" y="233172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" y="310896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" y="388620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" y="466344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" y="544068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" y="621792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2400" b="1">
                <a:solidFill>
                  <a:srgbClr val="E6EDF3"/>
                </a:solidFill>
                <a:latin typeface="Aptos Display"/>
              </a:rPr>
              <a:t>Результаты полного RAG-pipeline</a:t>
            </a:r>
            <a:endParaRPr sz="2400" b="1">
              <a:solidFill>
                <a:srgbClr val="E6EDF3"/>
              </a:solidFill>
              <a:latin typeface="Aptos Display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02920" y="786384"/>
            <a:ext cx="11109960" cy="0"/>
          </a:xfrm>
          <a:prstGeom prst="line">
            <a:avLst/>
          </a:prstGeom>
          <a:ln w="1524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AAB6C5"/>
                </a:solidFill>
                <a:latin typeface="Aptos"/>
              </a:rPr>
              <a:t>19</a:t>
            </a:r>
            <a:endParaRPr sz="1200" b="0">
              <a:solidFill>
                <a:srgbClr val="AAB6C5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987552"/>
            <a:ext cx="10789920" cy="2686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520" b="1">
                <a:solidFill>
                  <a:srgbClr val="E6EDF3"/>
                </a:solidFill>
                <a:latin typeface="Aptos"/>
              </a:rPr>
              <a:t>В полном RAG оцениваются два этапа: качество найденного контекста и качество итогового ответа</a:t>
            </a:r>
            <a:endParaRPr sz="1520" b="1">
              <a:solidFill>
                <a:srgbClr val="E6EDF3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77240" y="1444752"/>
            <a:ext cx="10652760" cy="43891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1527048"/>
            <a:ext cx="10378440" cy="20129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80" b="0">
                <a:solidFill>
                  <a:srgbClr val="AAB6C5"/>
                </a:solidFill>
                <a:latin typeface="Aptos"/>
              </a:rPr>
              <a:t>В этом запуске semantic соответствует sentence-based стратегии на основе NLTK. Новый embedding-based SemanticChunker проверяется отдельно</a:t>
            </a:r>
            <a:endParaRPr sz="1080" b="0">
              <a:solidFill>
                <a:srgbClr val="AAB6C5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60" y="2029968"/>
            <a:ext cx="5212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400" b="1">
                <a:solidFill>
                  <a:srgbClr val="58A6FF"/>
                </a:solidFill>
                <a:latin typeface="Aptos"/>
              </a:rPr>
              <a:t>Retrieval quality</a:t>
            </a:r>
            <a:endParaRPr sz="1400" b="1">
              <a:solidFill>
                <a:srgbClr val="58A6FF"/>
              </a:solidFill>
              <a:latin typeface="Apto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77240" y="2395728"/>
            <a:ext cx="2057400" cy="384048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2487168"/>
            <a:ext cx="200253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1">
                <a:solidFill>
                  <a:srgbClr val="E6EDF3"/>
                </a:solidFill>
                <a:latin typeface="Aptos"/>
              </a:rPr>
              <a:t>Стратегия</a:t>
            </a:r>
            <a:endParaRPr sz="950" b="1">
              <a:solidFill>
                <a:srgbClr val="E6EDF3"/>
              </a:solidFill>
              <a:latin typeface="Apto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834640" y="2395728"/>
            <a:ext cx="914400" cy="384048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62072" y="2487168"/>
            <a:ext cx="85953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1">
                <a:solidFill>
                  <a:srgbClr val="E6EDF3"/>
                </a:solidFill>
                <a:latin typeface="Aptos"/>
              </a:rPr>
              <a:t>Hits@4</a:t>
            </a:r>
            <a:endParaRPr sz="950" b="1">
              <a:solidFill>
                <a:srgbClr val="E6EDF3"/>
              </a:solidFill>
              <a:latin typeface="Apto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749039" y="2395728"/>
            <a:ext cx="914400" cy="384048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76472" y="2487168"/>
            <a:ext cx="85953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1">
                <a:solidFill>
                  <a:srgbClr val="E6EDF3"/>
                </a:solidFill>
                <a:latin typeface="Aptos"/>
              </a:rPr>
              <a:t>MAP@4</a:t>
            </a:r>
            <a:endParaRPr sz="950" b="1">
              <a:solidFill>
                <a:srgbClr val="E6EDF3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663440" y="2395728"/>
            <a:ext cx="914400" cy="384048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90872" y="2487168"/>
            <a:ext cx="85953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1">
                <a:solidFill>
                  <a:srgbClr val="E6EDF3"/>
                </a:solidFill>
                <a:latin typeface="Aptos"/>
              </a:rPr>
              <a:t>MRR@4</a:t>
            </a:r>
            <a:endParaRPr sz="950" b="1">
              <a:solidFill>
                <a:srgbClr val="E6EDF3"/>
              </a:solidFill>
              <a:latin typeface="Apto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77240" y="2779776"/>
            <a:ext cx="2057400" cy="384048"/>
          </a:xfrm>
          <a:prstGeom prst="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2871216"/>
            <a:ext cx="200253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0">
                <a:solidFill>
                  <a:srgbClr val="E6EDF3"/>
                </a:solidFill>
                <a:latin typeface="Aptos"/>
              </a:rPr>
              <a:t>Fixed</a:t>
            </a:r>
            <a:endParaRPr sz="95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834640" y="2779776"/>
            <a:ext cx="914400" cy="384048"/>
          </a:xfrm>
          <a:prstGeom prst="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62072" y="2871216"/>
            <a:ext cx="85953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0">
                <a:solidFill>
                  <a:srgbClr val="E6EDF3"/>
                </a:solidFill>
                <a:latin typeface="Aptos"/>
              </a:rPr>
              <a:t>0.355</a:t>
            </a:r>
            <a:endParaRPr sz="95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749039" y="2779776"/>
            <a:ext cx="914400" cy="384048"/>
          </a:xfrm>
          <a:prstGeom prst="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76472" y="2871216"/>
            <a:ext cx="85953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0">
                <a:solidFill>
                  <a:srgbClr val="E6EDF3"/>
                </a:solidFill>
                <a:latin typeface="Aptos"/>
              </a:rPr>
              <a:t>0.095</a:t>
            </a:r>
            <a:endParaRPr sz="95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663440" y="2779776"/>
            <a:ext cx="914400" cy="384048"/>
          </a:xfrm>
          <a:prstGeom prst="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90872" y="2871216"/>
            <a:ext cx="85953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0">
                <a:solidFill>
                  <a:srgbClr val="E6EDF3"/>
                </a:solidFill>
                <a:latin typeface="Aptos"/>
              </a:rPr>
              <a:t>0.223</a:t>
            </a:r>
            <a:endParaRPr sz="95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77240" y="3163824"/>
            <a:ext cx="2057400" cy="384048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3255264"/>
            <a:ext cx="200253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0">
                <a:solidFill>
                  <a:srgbClr val="E6EDF3"/>
                </a:solidFill>
                <a:latin typeface="Aptos"/>
              </a:rPr>
              <a:t>NLTK sent.</a:t>
            </a:r>
            <a:endParaRPr sz="95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834640" y="3163824"/>
            <a:ext cx="914400" cy="384048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62072" y="3255264"/>
            <a:ext cx="85953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0">
                <a:solidFill>
                  <a:srgbClr val="E6EDF3"/>
                </a:solidFill>
                <a:latin typeface="Aptos"/>
              </a:rPr>
              <a:t>0.413</a:t>
            </a:r>
            <a:endParaRPr sz="95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749039" y="3163824"/>
            <a:ext cx="914400" cy="384048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76472" y="3255264"/>
            <a:ext cx="85953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0">
                <a:solidFill>
                  <a:srgbClr val="E6EDF3"/>
                </a:solidFill>
                <a:latin typeface="Aptos"/>
              </a:rPr>
              <a:t>0.118</a:t>
            </a:r>
            <a:endParaRPr sz="95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663440" y="3163824"/>
            <a:ext cx="914400" cy="384048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90872" y="3255264"/>
            <a:ext cx="85953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0">
                <a:solidFill>
                  <a:srgbClr val="E6EDF3"/>
                </a:solidFill>
                <a:latin typeface="Aptos"/>
              </a:rPr>
              <a:t>0.254</a:t>
            </a:r>
            <a:endParaRPr sz="95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77240" y="3547872"/>
            <a:ext cx="2057400" cy="384048"/>
          </a:xfrm>
          <a:prstGeom prst="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672" y="3639312"/>
            <a:ext cx="200253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0">
                <a:solidFill>
                  <a:srgbClr val="E6EDF3"/>
                </a:solidFill>
                <a:latin typeface="Aptos"/>
              </a:rPr>
              <a:t>Recursive</a:t>
            </a:r>
            <a:endParaRPr sz="95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834640" y="3547872"/>
            <a:ext cx="914400" cy="384048"/>
          </a:xfrm>
          <a:prstGeom prst="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62072" y="3639312"/>
            <a:ext cx="85953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1">
                <a:solidFill>
                  <a:srgbClr val="FFD43B"/>
                </a:solidFill>
                <a:latin typeface="Aptos"/>
              </a:rPr>
              <a:t>0.448</a:t>
            </a:r>
            <a:endParaRPr sz="950" b="1">
              <a:solidFill>
                <a:srgbClr val="FFD43B"/>
              </a:solidFill>
              <a:latin typeface="Apto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749039" y="3547872"/>
            <a:ext cx="914400" cy="384048"/>
          </a:xfrm>
          <a:prstGeom prst="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76472" y="3639312"/>
            <a:ext cx="85953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1">
                <a:solidFill>
                  <a:srgbClr val="FFD43B"/>
                </a:solidFill>
                <a:latin typeface="Aptos"/>
              </a:rPr>
              <a:t>0.132</a:t>
            </a:r>
            <a:endParaRPr sz="950" b="1">
              <a:solidFill>
                <a:srgbClr val="FFD43B"/>
              </a:solidFill>
              <a:latin typeface="Aptos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663440" y="3547872"/>
            <a:ext cx="914400" cy="384048"/>
          </a:xfrm>
          <a:prstGeom prst="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90872" y="3639312"/>
            <a:ext cx="85953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1">
                <a:solidFill>
                  <a:srgbClr val="FFD43B"/>
                </a:solidFill>
                <a:latin typeface="Aptos"/>
              </a:rPr>
              <a:t>0.307</a:t>
            </a:r>
            <a:endParaRPr sz="950" b="1">
              <a:solidFill>
                <a:srgbClr val="FFD43B"/>
              </a:solidFill>
              <a:latin typeface="Apto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172200" y="2029968"/>
            <a:ext cx="5212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400" b="1">
                <a:solidFill>
                  <a:srgbClr val="39D5D6"/>
                </a:solidFill>
                <a:latin typeface="Aptos"/>
              </a:rPr>
              <a:t>QA quality</a:t>
            </a:r>
            <a:endParaRPr sz="1400" b="1">
              <a:solidFill>
                <a:srgbClr val="39D5D6"/>
              </a:solidFill>
              <a:latin typeface="Aptos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080760" y="2395728"/>
            <a:ext cx="1737360" cy="384048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08192" y="2487168"/>
            <a:ext cx="1682495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1">
                <a:solidFill>
                  <a:srgbClr val="E6EDF3"/>
                </a:solidFill>
                <a:latin typeface="Aptos"/>
              </a:rPr>
              <a:t>Стратегия</a:t>
            </a:r>
            <a:endParaRPr sz="950" b="1">
              <a:solidFill>
                <a:srgbClr val="E6EDF3"/>
              </a:solidFill>
              <a:latin typeface="Aptos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818120" y="2395728"/>
            <a:ext cx="822960" cy="384048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45552" y="2487168"/>
            <a:ext cx="76809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1">
                <a:solidFill>
                  <a:srgbClr val="E6EDF3"/>
                </a:solidFill>
                <a:latin typeface="Aptos"/>
              </a:rPr>
              <a:t>Prec.</a:t>
            </a:r>
            <a:endParaRPr sz="950" b="1">
              <a:solidFill>
                <a:srgbClr val="E6EDF3"/>
              </a:solidFill>
              <a:latin typeface="Aptos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641080" y="2395728"/>
            <a:ext cx="822960" cy="384048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68511" y="2487168"/>
            <a:ext cx="76809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1">
                <a:solidFill>
                  <a:srgbClr val="E6EDF3"/>
                </a:solidFill>
                <a:latin typeface="Aptos"/>
              </a:rPr>
              <a:t>Recall</a:t>
            </a:r>
            <a:endParaRPr sz="950" b="1">
              <a:solidFill>
                <a:srgbClr val="E6EDF3"/>
              </a:solidFill>
              <a:latin typeface="Aptos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464040" y="2395728"/>
            <a:ext cx="685800" cy="384048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91472" y="2487168"/>
            <a:ext cx="63093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1">
                <a:solidFill>
                  <a:srgbClr val="E6EDF3"/>
                </a:solidFill>
                <a:latin typeface="Aptos"/>
              </a:rPr>
              <a:t>F1</a:t>
            </a:r>
            <a:endParaRPr sz="950" b="1">
              <a:solidFill>
                <a:srgbClr val="E6EDF3"/>
              </a:solidFill>
              <a:latin typeface="Aptos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0149840" y="2395728"/>
            <a:ext cx="868680" cy="384048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177272" y="2487168"/>
            <a:ext cx="813815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1">
                <a:solidFill>
                  <a:srgbClr val="E6EDF3"/>
                </a:solidFill>
                <a:latin typeface="Aptos"/>
              </a:rPr>
              <a:t>Acc.</a:t>
            </a:r>
            <a:endParaRPr sz="950" b="1">
              <a:solidFill>
                <a:srgbClr val="E6EDF3"/>
              </a:solidFill>
              <a:latin typeface="Aptos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6080760" y="2779776"/>
            <a:ext cx="1737360" cy="384048"/>
          </a:xfrm>
          <a:prstGeom prst="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08192" y="2871216"/>
            <a:ext cx="1682495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0">
                <a:solidFill>
                  <a:srgbClr val="E6EDF3"/>
                </a:solidFill>
                <a:latin typeface="Aptos"/>
              </a:rPr>
              <a:t>Fixed</a:t>
            </a:r>
            <a:endParaRPr sz="95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7818120" y="2779776"/>
            <a:ext cx="822960" cy="384048"/>
          </a:xfrm>
          <a:prstGeom prst="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845552" y="2871216"/>
            <a:ext cx="76809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0">
                <a:solidFill>
                  <a:srgbClr val="E6EDF3"/>
                </a:solidFill>
                <a:latin typeface="Aptos"/>
              </a:rPr>
              <a:t>0.570</a:t>
            </a:r>
            <a:endParaRPr sz="95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8641080" y="2779776"/>
            <a:ext cx="822960" cy="384048"/>
          </a:xfrm>
          <a:prstGeom prst="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668511" y="2871216"/>
            <a:ext cx="76809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0">
                <a:solidFill>
                  <a:srgbClr val="E6EDF3"/>
                </a:solidFill>
                <a:latin typeface="Aptos"/>
              </a:rPr>
              <a:t>0.570</a:t>
            </a:r>
            <a:endParaRPr sz="95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9464040" y="2779776"/>
            <a:ext cx="685800" cy="384048"/>
          </a:xfrm>
          <a:prstGeom prst="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491472" y="2871216"/>
            <a:ext cx="63093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0">
                <a:solidFill>
                  <a:srgbClr val="E6EDF3"/>
                </a:solidFill>
                <a:latin typeface="Aptos"/>
              </a:rPr>
              <a:t>0.570</a:t>
            </a:r>
            <a:endParaRPr sz="95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10149840" y="2779776"/>
            <a:ext cx="868680" cy="384048"/>
          </a:xfrm>
          <a:prstGeom prst="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177272" y="2871216"/>
            <a:ext cx="813815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0">
                <a:solidFill>
                  <a:srgbClr val="E6EDF3"/>
                </a:solidFill>
                <a:latin typeface="Aptos"/>
              </a:rPr>
              <a:t>0.538</a:t>
            </a:r>
            <a:endParaRPr sz="95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6080760" y="3163824"/>
            <a:ext cx="1737360" cy="384048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08192" y="3255264"/>
            <a:ext cx="1682495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0">
                <a:solidFill>
                  <a:srgbClr val="E6EDF3"/>
                </a:solidFill>
                <a:latin typeface="Aptos"/>
              </a:rPr>
              <a:t>NLTK sent.</a:t>
            </a:r>
            <a:endParaRPr sz="95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7818120" y="3163824"/>
            <a:ext cx="822960" cy="384048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845552" y="3255264"/>
            <a:ext cx="76809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0">
                <a:solidFill>
                  <a:srgbClr val="E6EDF3"/>
                </a:solidFill>
                <a:latin typeface="Aptos"/>
              </a:rPr>
              <a:t>0.565</a:t>
            </a:r>
            <a:endParaRPr sz="95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8641080" y="3163824"/>
            <a:ext cx="822960" cy="384048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668511" y="3255264"/>
            <a:ext cx="76809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0">
                <a:solidFill>
                  <a:srgbClr val="E6EDF3"/>
                </a:solidFill>
                <a:latin typeface="Aptos"/>
              </a:rPr>
              <a:t>0.565</a:t>
            </a:r>
            <a:endParaRPr sz="95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9464040" y="3163824"/>
            <a:ext cx="685800" cy="384048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91472" y="3255264"/>
            <a:ext cx="63093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0">
                <a:solidFill>
                  <a:srgbClr val="E6EDF3"/>
                </a:solidFill>
                <a:latin typeface="Aptos"/>
              </a:rPr>
              <a:t>0.565</a:t>
            </a:r>
            <a:endParaRPr sz="95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10149840" y="3163824"/>
            <a:ext cx="868680" cy="384048"/>
          </a:xfrm>
          <a:prstGeom prst="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177272" y="3255264"/>
            <a:ext cx="813815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0">
                <a:solidFill>
                  <a:srgbClr val="E6EDF3"/>
                </a:solidFill>
                <a:latin typeface="Aptos"/>
              </a:rPr>
              <a:t>0.535</a:t>
            </a:r>
            <a:endParaRPr sz="95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6080760" y="3547872"/>
            <a:ext cx="1737360" cy="384048"/>
          </a:xfrm>
          <a:prstGeom prst="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08192" y="3639312"/>
            <a:ext cx="1682495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0">
                <a:solidFill>
                  <a:srgbClr val="E6EDF3"/>
                </a:solidFill>
                <a:latin typeface="Aptos"/>
              </a:rPr>
              <a:t>Recursive</a:t>
            </a:r>
            <a:endParaRPr sz="95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7818120" y="3547872"/>
            <a:ext cx="822960" cy="384048"/>
          </a:xfrm>
          <a:prstGeom prst="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45552" y="3639312"/>
            <a:ext cx="76809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1">
                <a:solidFill>
                  <a:srgbClr val="FFD43B"/>
                </a:solidFill>
                <a:latin typeface="Aptos"/>
              </a:rPr>
              <a:t>0.595</a:t>
            </a:r>
            <a:endParaRPr sz="950" b="1">
              <a:solidFill>
                <a:srgbClr val="FFD43B"/>
              </a:solidFill>
              <a:latin typeface="Aptos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8641080" y="3547872"/>
            <a:ext cx="822960" cy="384048"/>
          </a:xfrm>
          <a:prstGeom prst="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668511" y="3639312"/>
            <a:ext cx="76809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1">
                <a:solidFill>
                  <a:srgbClr val="FFD43B"/>
                </a:solidFill>
                <a:latin typeface="Aptos"/>
              </a:rPr>
              <a:t>0.595</a:t>
            </a:r>
            <a:endParaRPr sz="950" b="1">
              <a:solidFill>
                <a:srgbClr val="FFD43B"/>
              </a:solidFill>
              <a:latin typeface="Aptos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9464040" y="3547872"/>
            <a:ext cx="685800" cy="384048"/>
          </a:xfrm>
          <a:prstGeom prst="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491472" y="3639312"/>
            <a:ext cx="630936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1">
                <a:solidFill>
                  <a:srgbClr val="FFD43B"/>
                </a:solidFill>
                <a:latin typeface="Aptos"/>
              </a:rPr>
              <a:t>0.595</a:t>
            </a:r>
            <a:endParaRPr sz="950" b="1">
              <a:solidFill>
                <a:srgbClr val="FFD43B"/>
              </a:solidFill>
              <a:latin typeface="Aptos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10149840" y="3547872"/>
            <a:ext cx="868680" cy="384048"/>
          </a:xfrm>
          <a:prstGeom prst="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177272" y="3639312"/>
            <a:ext cx="813815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50" b="1">
                <a:solidFill>
                  <a:srgbClr val="FFD43B"/>
                </a:solidFill>
                <a:latin typeface="Aptos"/>
              </a:rPr>
              <a:t>0.552</a:t>
            </a:r>
            <a:endParaRPr sz="950" b="1">
              <a:solidFill>
                <a:srgbClr val="FFD43B"/>
              </a:solidFill>
              <a:latin typeface="Aptos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1051560" y="5440680"/>
            <a:ext cx="10104120" cy="65836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234440" y="5568696"/>
            <a:ext cx="9738360" cy="25082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>
                <a:solidFill>
                  <a:srgbClr val="E6EDF3"/>
                </a:solidFill>
                <a:latin typeface="Aptos"/>
              </a:rPr>
              <a:t>В полном RAG-pipeline наиболее стабильный результат показал RecursiveChunker</a:t>
            </a:r>
            <a:endParaRPr sz="1400" b="1">
              <a:solidFill>
                <a:srgbClr val="E6EDF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02336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12064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21792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1248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50976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607040" y="365760"/>
            <a:ext cx="0" cy="617220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" y="77724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" y="155448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" y="233172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" y="310896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" y="388620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" y="466344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" y="544068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" y="6217920"/>
            <a:ext cx="11201400" cy="0"/>
          </a:xfrm>
          <a:prstGeom prst="line">
            <a:avLst/>
          </a:prstGeom>
          <a:ln w="6985">
            <a:solidFill>
              <a:srgbClr val="18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2400" b="1">
                <a:solidFill>
                  <a:srgbClr val="E6EDF3"/>
                </a:solidFill>
                <a:latin typeface="Aptos Display"/>
              </a:rPr>
              <a:t>Итоговые выводы</a:t>
            </a:r>
            <a:endParaRPr sz="2400" b="1">
              <a:solidFill>
                <a:srgbClr val="E6EDF3"/>
              </a:solidFill>
              <a:latin typeface="Aptos Display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02920" y="786384"/>
            <a:ext cx="11109960" cy="0"/>
          </a:xfrm>
          <a:prstGeom prst="line">
            <a:avLst/>
          </a:prstGeom>
          <a:ln w="1524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AAB6C5"/>
                </a:solidFill>
                <a:latin typeface="Aptos"/>
              </a:rPr>
              <a:t>20</a:t>
            </a:r>
            <a:endParaRPr sz="1200" b="0">
              <a:solidFill>
                <a:srgbClr val="AAB6C5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85800" y="1097280"/>
            <a:ext cx="5257800" cy="4023360"/>
          </a:xfrm>
          <a:prstGeom prst="round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1353312"/>
            <a:ext cx="46634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500" b="1">
                <a:solidFill>
                  <a:srgbClr val="58A6FF"/>
                </a:solidFill>
                <a:latin typeface="Aptos"/>
              </a:rPr>
              <a:t>В проекте сравниваются четыре подхода</a:t>
            </a:r>
            <a:endParaRPr sz="1500" b="1">
              <a:solidFill>
                <a:srgbClr val="58A6FF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0120" y="1874519"/>
            <a:ext cx="4663440" cy="113474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</a:pPr>
            <a:r>
              <a:rPr sz="1180">
                <a:solidFill>
                  <a:srgbClr val="E6EDF3"/>
                </a:solidFill>
                <a:latin typeface="Aptos"/>
              </a:rPr>
              <a:t>FixedChunker </a:t>
            </a:r>
            <a:r>
              <a:rPr lang="en-US" sz="1180">
                <a:solidFill>
                  <a:srgbClr val="E6EDF3"/>
                </a:solidFill>
                <a:latin typeface="Aptos"/>
              </a:rPr>
              <a:t>- </a:t>
            </a:r>
            <a:r>
              <a:rPr sz="1180">
                <a:solidFill>
                  <a:srgbClr val="E6EDF3"/>
                </a:solidFill>
                <a:latin typeface="Aptos"/>
              </a:rPr>
              <a:t>механическое разбиение по размеру.</a:t>
            </a:r>
            <a:endParaRPr sz="1180">
              <a:solidFill>
                <a:srgbClr val="E6EDF3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sz="1180">
                <a:solidFill>
                  <a:srgbClr val="E6EDF3"/>
                </a:solidFill>
                <a:latin typeface="Aptos"/>
              </a:rPr>
              <a:t>RecursiveChunker </a:t>
            </a:r>
            <a:r>
              <a:rPr lang="en-US" sz="1180">
                <a:solidFill>
                  <a:srgbClr val="E6EDF3"/>
                </a:solidFill>
                <a:latin typeface="Aptos"/>
              </a:rPr>
              <a:t>- </a:t>
            </a:r>
            <a:r>
              <a:rPr sz="1180">
                <a:solidFill>
                  <a:srgbClr val="E6EDF3"/>
                </a:solidFill>
                <a:latin typeface="Aptos"/>
              </a:rPr>
              <a:t>структурное разбиение по разделителям.</a:t>
            </a:r>
            <a:endParaRPr sz="1180">
              <a:solidFill>
                <a:srgbClr val="E6EDF3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sz="1180">
                <a:solidFill>
                  <a:srgbClr val="E6EDF3"/>
                </a:solidFill>
                <a:latin typeface="Aptos"/>
              </a:rPr>
              <a:t>NltkSemanticChunker </a:t>
            </a:r>
            <a:r>
              <a:rPr lang="en-US" sz="1180">
                <a:solidFill>
                  <a:srgbClr val="E6EDF3"/>
                </a:solidFill>
                <a:latin typeface="Aptos"/>
              </a:rPr>
              <a:t>- </a:t>
            </a:r>
            <a:r>
              <a:rPr sz="1180">
                <a:solidFill>
                  <a:srgbClr val="E6EDF3"/>
                </a:solidFill>
                <a:latin typeface="Aptos"/>
              </a:rPr>
              <a:t>sentence-based подход без embeddings.</a:t>
            </a:r>
            <a:endParaRPr sz="1180">
              <a:solidFill>
                <a:srgbClr val="E6EDF3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sz="1180">
                <a:solidFill>
                  <a:srgbClr val="E6EDF3"/>
                </a:solidFill>
                <a:latin typeface="Aptos"/>
              </a:rPr>
              <a:t>SemanticChunker </a:t>
            </a:r>
            <a:r>
              <a:rPr lang="en-US" sz="1180">
                <a:solidFill>
                  <a:srgbClr val="E6EDF3"/>
                </a:solidFill>
                <a:latin typeface="Aptos"/>
              </a:rPr>
              <a:t>- </a:t>
            </a:r>
            <a:r>
              <a:rPr sz="1180">
                <a:solidFill>
                  <a:srgbClr val="E6EDF3"/>
                </a:solidFill>
                <a:latin typeface="Aptos"/>
              </a:rPr>
              <a:t>embedding-based разбиение по смысловым переходам.</a:t>
            </a:r>
            <a:endParaRPr sz="1180">
              <a:solidFill>
                <a:srgbClr val="E6EDF3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63640" y="1097280"/>
            <a:ext cx="5257800" cy="4023360"/>
          </a:xfrm>
          <a:prstGeom prst="roundRect">
            <a:avLst/>
          </a:prstGeom>
          <a:solidFill>
            <a:srgbClr val="202938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353312"/>
            <a:ext cx="46634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500" b="1">
                <a:solidFill>
                  <a:srgbClr val="39D5D6"/>
                </a:solidFill>
                <a:latin typeface="Aptos"/>
              </a:rPr>
              <a:t>Итог по экспериментам</a:t>
            </a:r>
            <a:endParaRPr sz="1500" b="1">
              <a:solidFill>
                <a:srgbClr val="39D5D6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37960" y="1874519"/>
            <a:ext cx="4709160" cy="53035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20" b="1">
                <a:solidFill>
                  <a:srgbClr val="E6EDF3"/>
                </a:solidFill>
                <a:latin typeface="Aptos"/>
              </a:rPr>
              <a:t>В полном RAG-pipeline лучший общий результат показал RecursiveChunker.</a:t>
            </a:r>
            <a:endParaRPr sz="1220" b="1">
              <a:solidFill>
                <a:srgbClr val="E6EDF3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37960" y="2761488"/>
            <a:ext cx="470916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00" b="0">
                <a:solidFill>
                  <a:srgbClr val="E6EDF3"/>
                </a:solidFill>
                <a:latin typeface="Aptos"/>
              </a:rPr>
              <a:t>В отдельной строгой retrieval-проверке embedding-based SemanticChunker показал лучший Hits@4 и MAP@4.</a:t>
            </a:r>
            <a:endParaRPr sz="120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37960" y="3858768"/>
            <a:ext cx="4709160" cy="219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00" b="0">
                <a:solidFill>
                  <a:srgbClr val="E6EDF3"/>
                </a:solidFill>
                <a:latin typeface="Aptos"/>
              </a:rPr>
              <a:t>RecursiveChunker показал лучший MRR@4</a:t>
            </a:r>
            <a:endParaRPr sz="1200" b="0">
              <a:solidFill>
                <a:srgbClr val="E6EDF3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051560" y="5440680"/>
            <a:ext cx="10104120" cy="65836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B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5568696"/>
            <a:ext cx="9738360" cy="42227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60" b="1">
                <a:solidFill>
                  <a:srgbClr val="E6EDF3"/>
                </a:solidFill>
                <a:latin typeface="Aptos"/>
              </a:rPr>
              <a:t>Одна стратегия не является лучшей для всех метрик: выбор chunker-класса зависит от задачи, скорости работы и способа оценки</a:t>
            </a:r>
            <a:endParaRPr sz="1260" b="1">
              <a:solidFill>
                <a:srgbClr val="E6EDF3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9265</Words>
  <Application>WPS Presentation</Application>
  <PresentationFormat/>
  <Paragraphs>656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0" baseType="lpstr">
      <vt:lpstr>Arial</vt:lpstr>
      <vt:lpstr>SimSun</vt:lpstr>
      <vt:lpstr>Wingdings</vt:lpstr>
      <vt:lpstr>Aptos Display</vt:lpstr>
      <vt:lpstr>Segoe UI Variable Display</vt:lpstr>
      <vt:lpstr>Aptos Display</vt:lpstr>
      <vt:lpstr>Aptos Display</vt:lpstr>
      <vt:lpstr>Aptos</vt:lpstr>
      <vt:lpstr>Aptos</vt:lpstr>
      <vt:lpstr>Aptos</vt:lpstr>
      <vt:lpstr>Cascadia Mono</vt:lpstr>
      <vt:lpstr>Cascadia Mono</vt:lpstr>
      <vt:lpstr>Cascadia Mono</vt:lpstr>
      <vt:lpstr>Aptos</vt:lpstr>
      <vt:lpstr>Cascadia Mono</vt:lpstr>
      <vt:lpstr>Segoe UI</vt:lpstr>
      <vt:lpstr>Microsoft YaHei</vt:lpstr>
      <vt:lpstr>Arial Unicode MS</vt:lpstr>
      <vt:lpstr>Aptos Display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Мария Крупенина</cp:lastModifiedBy>
  <cp:revision>2</cp:revision>
  <dcterms:created xsi:type="dcterms:W3CDTF">2026-06-07T03:50:23Z</dcterms:created>
  <dcterms:modified xsi:type="dcterms:W3CDTF">2026-06-07T03:51:21Z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4AC3A48278504927A6ED65AE641E08DE_13</vt:lpwstr>
  </property>
  <property fmtid="{D5CDD505-2E9C-101B-9397-08002B2CF9AE}" pid="3" name="KSOProductBuildVer">
    <vt:lpwstr>1049-12.1.0.26880</vt:lpwstr>
  </property>
</Properties>
</file>