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960120"/>
            <a:ext cx="10744200" cy="11887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Сравнение различных стратегий чанкирования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для RAG-системы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9808" y="2331720"/>
            <a:ext cx="475488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6C5"/>
                </a:solidFill>
              </a:rPr>
              <a:t>Проект по глубокому обучению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Документы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215798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51460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946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Чанки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03250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8912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590702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DB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778154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3816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302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9656064" y="4233672"/>
            <a:ext cx="310896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012680" y="393192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67544" y="4041648"/>
            <a:ext cx="1371600" cy="3474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answer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3657600" y="4983480"/>
            <a:ext cx="4800600" cy="384048"/>
          </a:xfrm>
          <a:prstGeom prst="roundRect">
            <a:avLst>
              <a:gd name="adj" fmla="val 42857"/>
            </a:avLst>
          </a:prstGeom>
          <a:solidFill>
            <a:srgbClr val="58A6FF">
              <a:alpha val="85000"/>
            </a:srgbClr>
          </a:solidFill>
          <a:ln w="8890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12464" y="5010912"/>
            <a:ext cx="4690872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объект сравнения </a:t>
            </a:r>
            <a:r>
              <a:rPr lang="ru-RU" alt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1024128"/>
            <a:ext cx="10927080" cy="786384"/>
          </a:xfrm>
          <a:prstGeom prst="rect">
            <a:avLst/>
          </a:prstGeom>
          <a:noFill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RAG-система строит ответ на основе найденных фрагментов из внешних документов. От качества разбиения документов зависит, какой контекст попадёт в языковую модель.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205740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211A1A"/>
          </a:solidFill>
          <a:ln w="12700">
            <a:solidFill>
              <a:srgbClr val="6B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05740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14221C"/>
          </a:solidFill>
          <a:ln w="12700">
            <a:solidFill>
              <a:srgbClr val="2D60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2286000"/>
            <a:ext cx="457200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Неудачное чанкирование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93408" y="2286000"/>
            <a:ext cx="457200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D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Корректное чанкирование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2761488"/>
            <a:ext cx="4572000" cy="160020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смысловой блок разрывается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контекст попадает шум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важный фрагмент не находится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 становится менее точным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6675120" y="2761488"/>
            <a:ext cx="4572000" cy="160020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смысловой блок сохраняется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контекст остаётся релевантным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 находит нужный фрагмент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 становится точнее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1097280" y="5623560"/>
            <a:ext cx="9966960" cy="5029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Ключевая идея: качество чанкирования влияет на качество поиска и итоговый ответ RAG-системы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RAG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1051560"/>
            <a:ext cx="10789920" cy="43891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— подход, при котором языковая модель отвечает с опорой на внешние документы.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пользовательский запрос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2624328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92608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32B4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1752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 по базе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624328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16636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 чанков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найденный контекст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49440" y="2624328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0664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9808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 + контекст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189720" y="2624328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46920" y="208483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38360" y="2267712"/>
            <a:ext cx="1554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738360" y="2578608"/>
            <a:ext cx="15544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генерация ответа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4400" y="406908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5568" y="4261104"/>
            <a:ext cx="164592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1115568" y="4645152"/>
            <a:ext cx="425196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отвечает за поиск нужных фрагментов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400800" y="406908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01968" y="4261104"/>
            <a:ext cx="192024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601968" y="4645152"/>
            <a:ext cx="429768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отвечает за формулирование ответа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05840" y="5779008"/>
            <a:ext cx="10149840" cy="4114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не отвечает только «из памяти»: перед ответом используется найденная информация из документов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Чанки и чанкирование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1005840"/>
            <a:ext cx="10789920" cy="5029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</a:t>
            </a:r>
            <a:r>
              <a:rPr lang="ru-RU" alt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небольшой фрагмент документа, который становится единицей поиска в RAG.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18288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1901952"/>
            <a:ext cx="4800600" cy="17739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Большой документ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↓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chunk 1 | chunk 2 | chunk 3 | chunk 4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↓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embeddings → поиск похожих фрагментов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400800" y="18288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057400"/>
            <a:ext cx="452628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Основные параметры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2587752"/>
            <a:ext cx="16459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chunk_size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12480" y="2587752"/>
            <a:ext cx="25603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размер одного чанка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20840" y="3063240"/>
            <a:ext cx="16459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chunk_overlap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12480" y="3063240"/>
            <a:ext cx="265176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пересечение соседних чанков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" y="429768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211A1A"/>
          </a:solidFill>
          <a:ln w="12700">
            <a:solidFill>
              <a:srgbClr val="6B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526280"/>
            <a:ext cx="43891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Слишком маленькие чанки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051560" y="4901184"/>
            <a:ext cx="43891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теряется контекст</a:t>
            </a:r>
            <a:endParaRPr lang="en-US" sz="1270" dirty="0"/>
          </a:p>
        </p:txBody>
      </p:sp>
      <p:sp>
        <p:nvSpPr>
          <p:cNvPr id="35" name="Shape 33"/>
          <p:cNvSpPr/>
          <p:nvPr/>
        </p:nvSpPr>
        <p:spPr>
          <a:xfrm>
            <a:off x="6400800" y="429768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211D12"/>
          </a:solidFill>
          <a:ln w="12700">
            <a:solidFill>
              <a:srgbClr val="725D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526280"/>
            <a:ext cx="43891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Слишком большие чанки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629400" y="4901184"/>
            <a:ext cx="43891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появляется шум</a:t>
            </a:r>
            <a:endParaRPr lang="en-US" sz="1270" dirty="0"/>
          </a:p>
        </p:txBody>
      </p:sp>
      <p:sp>
        <p:nvSpPr>
          <p:cNvPr id="38" name="Text 36"/>
          <p:cNvSpPr/>
          <p:nvPr/>
        </p:nvSpPr>
        <p:spPr>
          <a:xfrm>
            <a:off x="1051560" y="5897880"/>
            <a:ext cx="1014984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Нужен баланс: достаточно контекста, но без лишней информации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Данные и постановка эксперимента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1005713"/>
            <a:ext cx="10789920" cy="45720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sz="1400">
                <a:solidFill>
                  <a:srgbClr val="ECF3FF"/>
                </a:solidFill>
                <a:latin typeface="Aptos"/>
              </a:rPr>
              <a:t>В проекте фиксируются данные и условия запуска, меняется только стратегия чанкирования. Оценка проводится на двух уровнях: retrieval и generation.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85800" y="178308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480560" y="178308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275320" y="178308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2011680"/>
            <a:ext cx="278892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data/corpus.json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14400" y="2560320"/>
            <a:ext cx="2788920" cy="59436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корпус документов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индексации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914400" y="3520440"/>
            <a:ext cx="278892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CorpusLoader превращает записи в Document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9160" y="2011680"/>
            <a:ext cx="278892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data/MultiHopRAG.json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4709160" y="2560320"/>
            <a:ext cx="2788920" cy="59436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вопросы и эталонная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информация для оценки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4709160" y="3520440"/>
            <a:ext cx="278892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одинаковые вопросы для всех стратегий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03920" y="2011680"/>
            <a:ext cx="278892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results/*.csv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8503920" y="2560320"/>
            <a:ext cx="2788920" cy="59436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ответы pipeline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метрики качества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8503920" y="3520440"/>
            <a:ext cx="278892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фиксируется в отдельных файлах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7280" y="4892040"/>
            <a:ext cx="9966960" cy="868680"/>
          </a:xfrm>
          <a:prstGeom prst="roundRect">
            <a:avLst>
              <a:gd name="adj" fmla="val 8421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88720" y="4965192"/>
            <a:ext cx="9784080" cy="72237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Один corpus + одни вопросы + один retriever/LLM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                 ↓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     разные chunker-классы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Векторное хранилище Chroma DB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5720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DB хранит тексты чанков и их embeddings для поиска по смысловой близости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4980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Документ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2296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исходный текст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32888" y="2286000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99008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Chunker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306324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фрагменты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2286000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3036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model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530352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векторы смысла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13448" y="2286000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7064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12293B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DB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754380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хранилище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253728" y="2286000"/>
            <a:ext cx="365760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710928" y="18288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080" y="2020824"/>
            <a:ext cx="159105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 чанков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9784080" y="2331720"/>
            <a:ext cx="1591056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контекст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960" y="365760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2416" y="3748913"/>
            <a:ext cx="46177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хранится в Chroma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84885" y="4069207"/>
            <a:ext cx="4480560" cy="59436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1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текст чанка
</a:t>
            </a:r>
            <a:endParaRPr lang="en-US" sz="1150" dirty="0"/>
          </a:p>
          <a:p>
            <a:r>
              <a:rPr lang="en-US" sz="11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чанка
</a:t>
            </a:r>
            <a:endParaRPr lang="en-US" sz="1150" dirty="0"/>
          </a:p>
          <a:p>
            <a:r>
              <a:rPr lang="en-US" sz="11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и служебная информация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0" y="365760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0256" y="3858768"/>
            <a:ext cx="4617720" cy="27432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не обычный поиск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629400" y="4315968"/>
            <a:ext cx="452628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 и фрагмент могут быть сформулированы разными словами, но иметь близкий смысл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>
            <a:off x="1874520" y="5623560"/>
            <a:ext cx="8458200" cy="502920"/>
          </a:xfrm>
          <a:prstGeom prst="roundRect">
            <a:avLst>
              <a:gd name="adj" fmla="val 14545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65960" y="5696712"/>
            <a:ext cx="8275320" cy="35661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similarity(question_embedding, chunk_embedding) → top-k</a:t>
            </a:r>
            <a:endParaRPr lang="en-US" sz="13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RAG-пайплайна в коде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CorpusLoader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713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читает corpus.json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468880" y="1993392"/>
            <a:ext cx="347472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26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Chunker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2999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разбивает документы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754880" y="1993392"/>
            <a:ext cx="347472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212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VectorStore</a:t>
            </a:r>
            <a:endParaRPr lang="en-US" sz="1210" dirty="0"/>
          </a:p>
        </p:txBody>
      </p:sp>
      <p:sp>
        <p:nvSpPr>
          <p:cNvPr id="33" name="Text 31"/>
          <p:cNvSpPr/>
          <p:nvPr/>
        </p:nvSpPr>
        <p:spPr>
          <a:xfrm>
            <a:off x="5285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создаёт Chroma index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040880" y="1993392"/>
            <a:ext cx="347472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498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71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1210" dirty="0"/>
          </a:p>
        </p:txBody>
      </p:sp>
      <p:sp>
        <p:nvSpPr>
          <p:cNvPr id="37" name="Text 35"/>
          <p:cNvSpPr/>
          <p:nvPr/>
        </p:nvSpPr>
        <p:spPr>
          <a:xfrm>
            <a:off x="7571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возвращает top-k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9326880" y="1993392"/>
            <a:ext cx="347472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784080" y="1417320"/>
            <a:ext cx="1783080" cy="1170432"/>
          </a:xfrm>
          <a:prstGeom prst="roundRect">
            <a:avLst>
              <a:gd name="adj" fmla="val 625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57232" y="1645920"/>
            <a:ext cx="1636776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AnswerGenerator</a:t>
            </a:r>
            <a:endParaRPr lang="en-US" sz="1210" dirty="0"/>
          </a:p>
        </p:txBody>
      </p:sp>
      <p:sp>
        <p:nvSpPr>
          <p:cNvPr id="41" name="Text 39"/>
          <p:cNvSpPr/>
          <p:nvPr/>
        </p:nvSpPr>
        <p:spPr>
          <a:xfrm>
            <a:off x="9857232" y="2029968"/>
            <a:ext cx="1636776" cy="32918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+ Groq LLM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822960" y="3246120"/>
            <a:ext cx="4800600" cy="2423160"/>
          </a:xfrm>
          <a:prstGeom prst="roundRect">
            <a:avLst>
              <a:gd name="adj" fmla="val 3019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91895" y="3429000"/>
            <a:ext cx="4093845" cy="2025015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RAGPipeline.build_from_document()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1. load_content()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2. split_documents()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3. create_from_documents()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4. as_retriever(k=4)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5. AnswerGenerator(...)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17920" y="3246120"/>
            <a:ext cx="5074920" cy="2423160"/>
          </a:xfrm>
          <a:prstGeom prst="roundRect">
            <a:avLst>
              <a:gd name="adj" fmla="val 3019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502152"/>
            <a:ext cx="461772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Контролируемый эксперимент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92240" y="4004945"/>
            <a:ext cx="4526280" cy="131445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 lnSpcReduction="20000"/>
          </a:bodyPr>
          <a:lstStyle/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меняется только Chunker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корпус остаётся одинаковым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VectorStore и retriever одинаковые
</a:t>
            </a:r>
            <a:endParaRPr lang="en-US" sz="1230" dirty="0"/>
          </a:p>
          <a:p>
            <a:r>
              <a:rPr lang="en-US" sz="123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и prompt-шаблон фиксированы</a:t>
            </a:r>
            <a:endParaRPr lang="en-US" sz="1230" dirty="0"/>
          </a:p>
        </p:txBody>
      </p:sp>
      <p:sp>
        <p:nvSpPr>
          <p:cNvPr id="47" name="Text 45"/>
          <p:cNvSpPr/>
          <p:nvPr/>
        </p:nvSpPr>
        <p:spPr>
          <a:xfrm>
            <a:off x="6492240" y="5318125"/>
            <a:ext cx="4572000" cy="259715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Так различия в качестве связываются со способом разбиения текста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Стратегии чанкирования в проекте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1148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Стратегии вынесены в отдельные классы в chunkers.py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85800" y="18288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084832"/>
            <a:ext cx="22402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FixedChunker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2514600"/>
            <a:ext cx="22402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фиксированный размер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520440" y="18288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084832"/>
            <a:ext cx="22402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RecursiveChunker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11880" y="2514600"/>
            <a:ext cx="22402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структурное разбиение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355080" y="18288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084832"/>
            <a:ext cx="22402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NltkSemanticChunker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46520" y="2514600"/>
            <a:ext cx="22402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предложения + склейка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9189720" y="18288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2084832"/>
            <a:ext cx="22402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SemanticChunker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81160" y="2514600"/>
            <a:ext cx="2240280" cy="30175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смысловые сдвиги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1828800" y="397764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0" y="4050792"/>
            <a:ext cx="8321040" cy="10881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Один корпус документов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↓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разные chunker-классы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↓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одинаковый VectorStore + Retriever + Groq LLM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91840" y="5650992"/>
            <a:ext cx="5669280" cy="384048"/>
          </a:xfrm>
          <a:prstGeom prst="roundRect">
            <a:avLst>
              <a:gd name="adj" fmla="val 42857"/>
            </a:avLst>
          </a:prstGeom>
          <a:solidFill>
            <a:srgbClr val="58A6FF">
              <a:alpha val="85000"/>
            </a:srgbClr>
          </a:solidFill>
          <a:ln w="8890">
            <a:solidFill>
              <a:srgbClr val="58A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5678424"/>
            <a:ext cx="5559552" cy="3108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сравнивается именно способ нарезки текста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FixedChunker и RecursiveChunker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09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1325880"/>
            <a:ext cx="5166360" cy="4023360"/>
          </a:xfrm>
          <a:prstGeom prst="roundRect">
            <a:avLst>
              <a:gd name="adj" fmla="val 181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325880"/>
            <a:ext cx="5166360" cy="4023360"/>
          </a:xfrm>
          <a:prstGeom prst="roundRect">
            <a:avLst>
              <a:gd name="adj" fmla="val 1818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1600200"/>
            <a:ext cx="461772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FixedChunker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" y="214884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2221992"/>
            <a:ext cx="4434840" cy="42062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текст → каждые N символов → чанки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960120" y="2971800"/>
            <a:ext cx="4617720" cy="132588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использует CharacterTextSplitter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простая и быстрая стратегия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может разорвать предложение или смысловой блок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960120" y="4663440"/>
            <a:ext cx="46177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для механического разбиения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629400" y="1600200"/>
            <a:ext cx="461772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RecursiveChunker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629400" y="2148840"/>
            <a:ext cx="4617720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2221992"/>
            <a:ext cx="4434840" cy="42062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абзацы → строки → слова → символы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6629400" y="2971800"/>
            <a:ext cx="4617720" cy="132588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использует RecursiveCharacterTextSplitter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лучше сохраняет структуру текста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анализирует смысловую близость предложений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629400" y="4663440"/>
            <a:ext cx="4617720" cy="256032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для структурного разбиения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1005840" y="5824728"/>
            <a:ext cx="1014984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Обе стратегии не используют embeddings для определения смысловых границ</a:t>
            </a:r>
            <a:endParaRPr lang="en-US" sz="14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NltkSemanticChunker: sentence-based подход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1005840"/>
            <a:ext cx="10789920" cy="420624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 использует разбиение на предложения, но не анализирует смысловую близость между ними</a:t>
            </a:r>
            <a:endParaRPr lang="en-US" altLang="en-US" sz="1550" b="1" dirty="0">
              <a:solidFill>
                <a:srgbClr val="E6EDF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" y="182880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1901952"/>
            <a:ext cx="4572000" cy="2688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текст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↓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sent_tokenize()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↓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список предложений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↓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RecursiveCharacterTextSplitter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↓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чанки по размеру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172200" y="182880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066544"/>
            <a:ext cx="4754880" cy="32004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отсутствует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46520" y="2633472"/>
            <a:ext cx="4617720" cy="114300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embeddings предложений
</a:t>
            </a:r>
            <a:endParaRPr lang="en-US" sz="1250" dirty="0"/>
          </a:p>
          <a:p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cosine distance
</a:t>
            </a:r>
            <a:endParaRPr lang="en-US" sz="1250" dirty="0"/>
          </a:p>
          <a:p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поиска смыслового перехода
</a:t>
            </a:r>
            <a:endParaRPr lang="en-US" sz="1250" dirty="0"/>
          </a:p>
          <a:p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границы зависят от предложений и размера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SemanticChunker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5720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SemanticChunker добавляет разбиение по смысловым переходам между соседними предложениями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14400" y="1783080"/>
            <a:ext cx="10332720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1856232"/>
            <a:ext cx="10149840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текст → предложения → embeddings → cosine distance → semantic shifts → chunks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868680" y="30175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246120"/>
            <a:ext cx="461772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NltkSemanticChunker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767328"/>
            <a:ext cx="461772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делит текст на предложения и склеивает их по размеру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301752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246120"/>
            <a:ext cx="461772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SemanticChunker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3767328"/>
            <a:ext cx="461772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ищет места смыслового перехода между предложениями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51560" y="5715000"/>
            <a:ext cx="10058400" cy="40233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Идея: разделять текст не только по длине или структуре, а по изменению смысла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Алгоритм SemanticChunker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1234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1380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очистка текста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017520" y="1563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493008" y="1234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1380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sent_tokenize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852160" y="1563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27648" y="1234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380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embeddings предложений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686800" y="1563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62288" y="1234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132B4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1380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cosine distance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58368" y="2377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132B4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2523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порог разбиения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3017520" y="2706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493008" y="2377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2523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смысловые группы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852160" y="2706624"/>
            <a:ext cx="338328" cy="0"/>
          </a:xfrm>
          <a:prstGeom prst="line">
            <a:avLst/>
          </a:prstGeom>
          <a:noFill/>
          <a:ln w="17780">
            <a:solidFill>
              <a:srgbClr val="58A6F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327648" y="2377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523744"/>
            <a:ext cx="2185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fallback по chunk_size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14400" y="38862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3959352"/>
            <a:ext cx="5029200" cy="53949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9D0D8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distance = 1 - np.sum(emb[i] * emb[i+1])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537960" y="3703320"/>
            <a:ext cx="4709160" cy="1051560"/>
          </a:xfrm>
          <a:prstGeom prst="roundRect">
            <a:avLst>
              <a:gd name="adj" fmla="val 6957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3977640"/>
            <a:ext cx="4297680" cy="42062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distance выше порога, создаётся новая граница чанка</a:t>
            </a:r>
            <a:endParaRPr lang="en-US" sz="1320" dirty="0"/>
          </a:p>
        </p:txBody>
      </p:sp>
      <p:sp>
        <p:nvSpPr>
          <p:cNvPr id="46" name="Shape 44"/>
          <p:cNvSpPr/>
          <p:nvPr/>
        </p:nvSpPr>
        <p:spPr>
          <a:xfrm>
            <a:off x="1417320" y="5257800"/>
            <a:ext cx="9326880" cy="713232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08760" y="5330952"/>
            <a:ext cx="9144000" cy="5669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s1 ─ s2 ─ s3 ║ s4 ─ s5 ║ s6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0.12 0.18 0.71 0.15 0.68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Запуск эксперимента в qa_pipeline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5720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каждой стратегии создаётся отдельный RAG-pipeline с одинаковыми условиями запуска.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85800" y="17830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1975104"/>
            <a:ext cx="2276856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FixedChunker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758952" y="2331720"/>
            <a:ext cx="227685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fixed_pipeline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520440" y="17830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1975104"/>
            <a:ext cx="2276856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NltkSemantic...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3593592" y="2331720"/>
            <a:ext cx="227685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semantic_pipeline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355080" y="17830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1975104"/>
            <a:ext cx="2276856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RecursiveChunker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6428232" y="2331720"/>
            <a:ext cx="227685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recursive_pipeline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9189720" y="178308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123A58"/>
          </a:solidFill>
          <a:ln w="12700">
            <a:solidFill>
              <a:srgbClr val="39D0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1975104"/>
            <a:ext cx="2276856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SemanticChunker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9262872" y="2331720"/>
            <a:ext cx="227685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true_semantic_pipeline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960120" y="3429000"/>
            <a:ext cx="4800600" cy="2011680"/>
          </a:xfrm>
          <a:prstGeom prst="roundRect">
            <a:avLst>
              <a:gd name="adj" fmla="val 3636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3657600"/>
            <a:ext cx="434340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Фиксированные условия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07135" y="4049395"/>
            <a:ext cx="4278630" cy="1227455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 fontScale="90000"/>
          </a:bodyPr>
          <a:lstStyle/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corpus.json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chunk_size = 512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retriever: k = 4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одинаковая LLM через Groq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46520" y="3429000"/>
            <a:ext cx="4800600" cy="2011680"/>
          </a:xfrm>
          <a:prstGeom prst="roundRect">
            <a:avLst>
              <a:gd name="adj" fmla="val 3636"/>
            </a:avLst>
          </a:prstGeom>
          <a:solidFill>
            <a:srgbClr val="171C24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657600"/>
            <a:ext cx="4343400" cy="29260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Выход эксперимента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93535" y="4114800"/>
            <a:ext cx="4251960" cy="1189990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 lnSpcReduction="10000"/>
          </a:bodyPr>
          <a:lstStyle/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retrieved_chunks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
</a:t>
            </a:r>
            <a:endParaRPr lang="en-US" sz="1200" dirty="0"/>
          </a:p>
          <a:p>
            <a:r>
              <a:rPr lang="en-US" sz="12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CSV-файлы в results/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926080" y="5852160"/>
            <a:ext cx="6309360" cy="384048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0B4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Контролируемая переменная: chunker</a:t>
            </a:r>
            <a:endParaRPr lang="en-US" sz="14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65760"/>
            <a:ext cx="0" cy="6172200"/>
          </a:xfrm>
          <a:prstGeom prst="line">
            <a:avLst/>
          </a:prstGeom>
          <a:noFill/>
          <a:ln w="6350">
            <a:solidFill>
              <a:srgbClr val="18202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7772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8620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66344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44068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6217920"/>
            <a:ext cx="11201400" cy="0"/>
          </a:xfrm>
          <a:prstGeom prst="line">
            <a:avLst/>
          </a:prstGeom>
          <a:noFill/>
          <a:ln w="5080">
            <a:solidFill>
              <a:srgbClr val="18202B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6032"/>
            <a:ext cx="9875520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Метрики оценки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786384"/>
            <a:ext cx="11109960" cy="0"/>
          </a:xfrm>
          <a:prstGeom prst="line">
            <a:avLst/>
          </a:prstGeom>
          <a:noFill/>
          <a:ln w="16510">
            <a:solidFill>
              <a:srgbClr val="58A6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7080" y="256032"/>
            <a:ext cx="713232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6C5"/>
                </a:solidFill>
              </a:rPr>
              <a:t>14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978408"/>
            <a:ext cx="10789920" cy="45720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RAG оценивается на двух уровнях: поиск контекста и итоговый ответ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31520" y="178308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78308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202938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057400"/>
            <a:ext cx="466344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8A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quality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7552" y="2487168"/>
            <a:ext cx="4663440" cy="237744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найденных чанков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87552" y="2926080"/>
            <a:ext cx="4572000" cy="1078992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16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Hits@4 - релевантный фрагмент попал в top-4
</a:t>
            </a:r>
            <a:endParaRPr lang="en-US" sz="1160" dirty="0"/>
          </a:p>
          <a:p>
            <a:r>
              <a:rPr lang="en-US" sz="116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MAP@4 - качество ранжирования
</a:t>
            </a:r>
            <a:endParaRPr lang="en-US" sz="1160" dirty="0"/>
          </a:p>
          <a:p>
            <a:r>
              <a:rPr lang="en-US" sz="116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MRR@4 -позиция первого релевантного фрагмента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6519672" y="2057400"/>
            <a:ext cx="4663440" cy="310896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9D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quality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519672" y="2487168"/>
            <a:ext cx="4663440" cy="237744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итогового ответа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19672" y="2926080"/>
            <a:ext cx="4572000" cy="1078992"/>
          </a:xfrm>
          <a:prstGeom prst="rect">
            <a:avLst/>
          </a:prstGeom>
          <a:noFill/>
        </p:spPr>
        <p:txBody>
          <a:bodyPr wrap="square" lIns="1778" tIns="1778" rIns="1778" bIns="1778" rtlCol="0" anchor="t">
            <a:normAutofit/>
          </a:bodyPr>
          <a:lstStyle/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f1_score
</a:t>
            </a:r>
            <a:endParaRPr lang="en-US" sz="1220" dirty="0"/>
          </a:p>
          <a:p>
            <a:r>
              <a:rPr lang="en-US" sz="122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1143000" y="5349240"/>
            <a:ext cx="9921240" cy="786384"/>
          </a:xfrm>
          <a:prstGeom prst="roundRect">
            <a:avLst>
              <a:gd name="adj" fmla="val 9302"/>
            </a:avLst>
          </a:prstGeom>
          <a:solidFill>
            <a:srgbClr val="0B1220"/>
          </a:solidFill>
          <a:ln w="12700">
            <a:solidFill>
              <a:srgbClr val="243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4440" y="5422392"/>
            <a:ext cx="9738360" cy="6400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Вопрос → Retriever → top-4 chunks → Groq LLM → Ответ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E6EDF3"/>
                </a:solidFill>
                <a:latin typeface="Cascadia Mono" panose="020B0609020000020004" pitchFamily="34" charset="0"/>
                <a:ea typeface="Cascadia Mono" panose="020B0609020000020004" pitchFamily="34" charset="-122"/>
                <a:cs typeface="Cascadia Mono" panose="020B0609020000020004" pitchFamily="34" charset="-120"/>
              </a:rPr>
              <a:t>          ↑ retrieval metrics        ↑ QA metrics</a:t>
            </a:r>
            <a:endParaRPr lang="en-US" sz="1250" dirty="0"/>
          </a:p>
        </p:txBody>
      </p:sp>
      <p:sp>
        <p:nvSpPr>
          <p:cNvPr id="34" name="TextBox 33"/>
          <p:cNvSpPr txBox="1"/>
          <p:nvPr/>
        </p:nvSpPr>
        <p:spPr>
          <a:xfrm>
            <a:off x="6583680" y="5897880"/>
            <a:ext cx="438912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200" b="0">
                <a:solidFill>
                  <a:srgbClr val="A6B5CB"/>
                </a:solidFill>
                <a:latin typeface="Aptos"/>
              </a:rPr>
              <a:t>Отдельная проверка: top-4 chunks → evidence check</a:t>
            </a:r>
            <a:endParaRPr sz="1200" b="0">
              <a:solidFill>
                <a:srgbClr val="A6B5C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043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772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15544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23317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10896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388620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46634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54406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62179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01168"/>
            <a:ext cx="9875520" cy="4114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2500" b="1">
                <a:solidFill>
                  <a:srgbClr val="ECF3FF"/>
                </a:solidFill>
                <a:latin typeface="Aptos"/>
              </a:rPr>
              <a:t>Отдельная retrieval-оценка без LLM</a:t>
            </a:r>
            <a:endParaRPr sz="2500" b="1">
              <a:solidFill>
                <a:srgbClr val="ECF3FF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02920" y="749808"/>
            <a:ext cx="11109960" cy="0"/>
          </a:xfrm>
          <a:prstGeom prst="line">
            <a:avLst/>
          </a:prstGeom>
          <a:ln w="12700">
            <a:solidFill>
              <a:srgbClr val="364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881360" y="201168"/>
            <a:ext cx="64008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r"/>
            <a:r>
              <a:rPr sz="1600" b="0">
                <a:solidFill>
                  <a:srgbClr val="A6B5CB"/>
                </a:solidFill>
                <a:latin typeface="Aptos"/>
              </a:rPr>
              <a:t>15</a:t>
            </a:r>
            <a:endParaRPr sz="1600" b="0">
              <a:solidFill>
                <a:srgbClr val="A6B5C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960120"/>
            <a:ext cx="10698480" cy="4114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800" b="0">
                <a:solidFill>
                  <a:srgbClr val="ECF3FF"/>
                </a:solidFill>
                <a:latin typeface="Aptos"/>
              </a:rPr>
              <a:t>Чтобы оценить именно влияние чанкирования, была добавлена отдельная проверка без генерации ответов</a:t>
            </a:r>
            <a:endParaRPr sz="18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2960" y="1600200"/>
            <a:ext cx="4892040" cy="32461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1600200"/>
            <a:ext cx="4892040" cy="32461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1783080"/>
            <a:ext cx="448056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900" b="1">
                <a:solidFill>
                  <a:srgbClr val="1EC9B9"/>
                </a:solidFill>
                <a:latin typeface="Aptos"/>
              </a:rPr>
              <a:t>Полный RAG</a:t>
            </a:r>
            <a:endParaRPr sz="19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" y="2331720"/>
            <a:ext cx="438912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900" b="1">
                <a:solidFill>
                  <a:srgbClr val="ECF3FF"/>
                </a:solidFill>
                <a:latin typeface="Aptos"/>
              </a:rPr>
              <a:t>query → retriever → top-4 chunks
              → LLM → answer</a:t>
            </a:r>
            <a:endParaRPr sz="19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3000" y="3429000"/>
            <a:ext cx="429768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500" b="0">
                <a:solidFill>
                  <a:srgbClr val="A6B5CB"/>
                </a:solidFill>
                <a:latin typeface="Aptos"/>
              </a:rPr>
              <a:t>Оценивается и поиск контекста,
и качество итогового ответа</a:t>
            </a:r>
            <a:endParaRPr sz="1500" b="0">
              <a:solidFill>
                <a:srgbClr val="A6B5CB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5120" y="1783080"/>
            <a:ext cx="448056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900" b="1">
                <a:solidFill>
                  <a:srgbClr val="1EC9B9"/>
                </a:solidFill>
                <a:latin typeface="Aptos"/>
              </a:rPr>
              <a:t>Retrieval-only</a:t>
            </a:r>
            <a:endParaRPr sz="19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75120" y="2331720"/>
            <a:ext cx="438912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900" b="1">
                <a:solidFill>
                  <a:srgbClr val="ECF3FF"/>
                </a:solidFill>
                <a:latin typeface="Aptos"/>
              </a:rPr>
              <a:t>query → retriever → top-4 chunks
          → evidence check</a:t>
            </a:r>
            <a:endParaRPr sz="19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12280" y="3429000"/>
            <a:ext cx="4114800" cy="7315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500" b="0">
                <a:solidFill>
                  <a:srgbClr val="A6B5CB"/>
                </a:solidFill>
                <a:latin typeface="Aptos"/>
              </a:rPr>
              <a:t>Оценивается только качество
найденных чанков</a:t>
            </a:r>
            <a:endParaRPr sz="1500" b="0">
              <a:solidFill>
                <a:srgbClr val="A6B5CB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60120" y="5166360"/>
            <a:ext cx="10241280" cy="6400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303647"/>
            <a:ext cx="987552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500" b="0">
                <a:solidFill>
                  <a:srgbClr val="ECF3FF"/>
                </a:solidFill>
                <a:latin typeface="Aptos"/>
              </a:rPr>
              <a:t>Так можно отделить качество retrieval от качества generation и проверить, как chunker влияет на найденный контекст</a:t>
            </a:r>
            <a:endParaRPr sz="1500" b="0">
              <a:solidFill>
                <a:srgbClr val="ECF3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043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772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15544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23317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10896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388620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46634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54406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62179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01168"/>
            <a:ext cx="9875520" cy="4114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2500" b="1">
                <a:solidFill>
                  <a:srgbClr val="ECF3FF"/>
                </a:solidFill>
                <a:latin typeface="Aptos"/>
              </a:rPr>
              <a:t>Механизм строгой retrieval-проверки</a:t>
            </a:r>
            <a:endParaRPr sz="2500" b="1">
              <a:solidFill>
                <a:srgbClr val="ECF3FF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02920" y="749808"/>
            <a:ext cx="11109960" cy="0"/>
          </a:xfrm>
          <a:prstGeom prst="line">
            <a:avLst/>
          </a:prstGeom>
          <a:ln w="12700">
            <a:solidFill>
              <a:srgbClr val="364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881360" y="201168"/>
            <a:ext cx="64008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r"/>
            <a:r>
              <a:rPr sz="1600" b="0">
                <a:solidFill>
                  <a:srgbClr val="A6B5CB"/>
                </a:solidFill>
                <a:latin typeface="Aptos"/>
              </a:rPr>
              <a:t>16</a:t>
            </a:r>
            <a:endParaRPr sz="1600" b="0">
              <a:solidFill>
                <a:srgbClr val="A6B5C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960120"/>
            <a:ext cx="1069848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700" b="0">
                <a:solidFill>
                  <a:srgbClr val="ECF3FF"/>
                </a:solidFill>
                <a:latin typeface="Aptos"/>
              </a:rPr>
              <a:t>Проверка сравнивает найденные top-4 чанки с эталонными evidence-фактами из датасета.</a:t>
            </a:r>
            <a:endParaRPr sz="17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" y="1508760"/>
            <a:ext cx="3749039" cy="41605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1691640"/>
            <a:ext cx="329184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800" b="1">
                <a:solidFill>
                  <a:srgbClr val="1EC9B9"/>
                </a:solidFill>
                <a:latin typeface="Aptos"/>
              </a:rPr>
              <a:t>Pipeline оценки</a:t>
            </a:r>
            <a:endParaRPr sz="18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143000" y="2148840"/>
            <a:ext cx="292608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2" y="2221992"/>
            <a:ext cx="2788920" cy="201168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300" b="1">
                <a:solidFill>
                  <a:srgbClr val="ECF3FF"/>
                </a:solidFill>
                <a:latin typeface="Aptos"/>
              </a:rPr>
              <a:t>query</a:t>
            </a:r>
            <a:endParaRPr sz="13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514600" y="2542032"/>
            <a:ext cx="36576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600" b="1">
                <a:solidFill>
                  <a:srgbClr val="1EC9B9"/>
                </a:solidFill>
                <a:latin typeface="Aptos"/>
              </a:rPr>
              <a:t>↓</a:t>
            </a:r>
            <a:endParaRPr sz="16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143000" y="2788920"/>
            <a:ext cx="292608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2862072"/>
            <a:ext cx="2788920" cy="201168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300" b="0">
                <a:solidFill>
                  <a:srgbClr val="ECF3FF"/>
                </a:solidFill>
                <a:latin typeface="Aptos"/>
              </a:rPr>
              <a:t>Retriever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14600" y="3182112"/>
            <a:ext cx="36576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600" b="1">
                <a:solidFill>
                  <a:srgbClr val="1EC9B9"/>
                </a:solidFill>
                <a:latin typeface="Aptos"/>
              </a:rPr>
              <a:t>↓</a:t>
            </a:r>
            <a:endParaRPr sz="16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143000" y="3429000"/>
            <a:ext cx="292608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6152" y="3502152"/>
            <a:ext cx="2788920" cy="201168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300" b="0">
                <a:solidFill>
                  <a:srgbClr val="ECF3FF"/>
                </a:solidFill>
                <a:latin typeface="Aptos"/>
              </a:rPr>
              <a:t>top-4 chunks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514600" y="3822191"/>
            <a:ext cx="36576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600" b="1">
                <a:solidFill>
                  <a:srgbClr val="1EC9B9"/>
                </a:solidFill>
                <a:latin typeface="Aptos"/>
              </a:rPr>
              <a:t>↓</a:t>
            </a:r>
            <a:endParaRPr sz="16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143000" y="4069080"/>
            <a:ext cx="292608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6152" y="4142232"/>
            <a:ext cx="2788920" cy="201168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300" b="0">
                <a:solidFill>
                  <a:srgbClr val="ECF3FF"/>
                </a:solidFill>
                <a:latin typeface="Aptos"/>
              </a:rPr>
              <a:t>evidence_list.fact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514600" y="4462272"/>
            <a:ext cx="36576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600" b="1">
                <a:solidFill>
                  <a:srgbClr val="1EC9B9"/>
                </a:solidFill>
                <a:latin typeface="Aptos"/>
              </a:rPr>
              <a:t>↓</a:t>
            </a:r>
            <a:endParaRPr sz="16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143000" y="4709160"/>
            <a:ext cx="2926080" cy="38404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16152" y="4782312"/>
            <a:ext cx="2788920" cy="201168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300" b="1">
                <a:solidFill>
                  <a:srgbClr val="ECF3FF"/>
                </a:solidFill>
                <a:latin typeface="Aptos"/>
              </a:rPr>
              <a:t>Hits@4 / MAP@4 / MRR@4</a:t>
            </a:r>
            <a:endParaRPr sz="13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892040" y="1508760"/>
            <a:ext cx="6355080" cy="329184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1691640"/>
            <a:ext cx="585216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800" b="1">
                <a:solidFill>
                  <a:srgbClr val="1EC9B9"/>
                </a:solidFill>
                <a:latin typeface="Aptos"/>
              </a:rPr>
              <a:t>Строгий критерий релевантности</a:t>
            </a:r>
            <a:endParaRPr sz="18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66360" y="2148840"/>
            <a:ext cx="2286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400" b="1">
                <a:solidFill>
                  <a:srgbClr val="1EC9B9"/>
                </a:solidFill>
                <a:latin typeface="Aptos"/>
              </a:rPr>
              <a:t>•</a:t>
            </a:r>
            <a:endParaRPr sz="14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22392" y="2148840"/>
            <a:ext cx="5413248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400" b="0">
                <a:solidFill>
                  <a:srgbClr val="ECF3FF"/>
                </a:solidFill>
                <a:latin typeface="Aptos"/>
              </a:rPr>
              <a:t>из evidence_list берётся только поле fact;</a:t>
            </a:r>
            <a:endParaRPr sz="14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166360" y="2496312"/>
            <a:ext cx="2286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400" b="1">
                <a:solidFill>
                  <a:srgbClr val="1EC9B9"/>
                </a:solidFill>
                <a:latin typeface="Aptos"/>
              </a:rPr>
              <a:t>•</a:t>
            </a:r>
            <a:endParaRPr sz="14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22392" y="2496312"/>
            <a:ext cx="5413248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400" b="0">
                <a:solidFill>
                  <a:srgbClr val="ECF3FF"/>
                </a:solidFill>
                <a:latin typeface="Aptos"/>
              </a:rPr>
              <a:t>chunk релевантен, если fact дословно входит в текст chunk;</a:t>
            </a:r>
            <a:endParaRPr sz="14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66360" y="2843784"/>
            <a:ext cx="2286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400" b="1">
                <a:solidFill>
                  <a:srgbClr val="1EC9B9"/>
                </a:solidFill>
                <a:latin typeface="Aptos"/>
              </a:rPr>
              <a:t>•</a:t>
            </a:r>
            <a:endParaRPr sz="14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22392" y="2843784"/>
            <a:ext cx="5413248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400" b="0">
                <a:solidFill>
                  <a:srgbClr val="ECF3FF"/>
                </a:solidFill>
                <a:latin typeface="Aptos"/>
              </a:rPr>
              <a:t>null_query исключаются из расчёта.</a:t>
            </a:r>
            <a:endParaRPr sz="14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120640" y="3886200"/>
            <a:ext cx="5852160" cy="438912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800" y="3986784"/>
            <a:ext cx="5577840" cy="201168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500" b="1">
                <a:solidFill>
                  <a:srgbClr val="FFB84D"/>
                </a:solidFill>
                <a:latin typeface="Aptos"/>
              </a:rPr>
              <a:t>chunkers_retrieval.ipynb</a:t>
            </a:r>
            <a:endParaRPr sz="1500" b="1">
              <a:solidFill>
                <a:srgbClr val="FFB84D"/>
              </a:solidFill>
              <a:latin typeface="Apto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60120" y="5731510"/>
            <a:ext cx="10241280" cy="64008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7280" y="5851017"/>
            <a:ext cx="987552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500" b="0">
                <a:solidFill>
                  <a:srgbClr val="ECF3FF"/>
                </a:solidFill>
                <a:latin typeface="Aptos"/>
              </a:rPr>
              <a:t>Такая проверка сопоставима с основной логикой оценки retrieval и не требует запуска LLM</a:t>
            </a:r>
            <a:endParaRPr sz="1500" b="0">
              <a:solidFill>
                <a:srgbClr val="ECF3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043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772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15544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23317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10896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388620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46634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54406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62179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01168"/>
            <a:ext cx="9875520" cy="4114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2500" b="1">
                <a:solidFill>
                  <a:srgbClr val="ECF3FF"/>
                </a:solidFill>
                <a:latin typeface="Aptos"/>
              </a:rPr>
              <a:t>Результаты строгой retrieval-проверки</a:t>
            </a:r>
            <a:endParaRPr sz="2500" b="1">
              <a:solidFill>
                <a:srgbClr val="ECF3FF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02920" y="749808"/>
            <a:ext cx="11109960" cy="0"/>
          </a:xfrm>
          <a:prstGeom prst="line">
            <a:avLst/>
          </a:prstGeom>
          <a:ln w="12700">
            <a:solidFill>
              <a:srgbClr val="364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881360" y="201168"/>
            <a:ext cx="64008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r"/>
            <a:r>
              <a:rPr sz="1600" b="0">
                <a:solidFill>
                  <a:srgbClr val="A6B5CB"/>
                </a:solidFill>
                <a:latin typeface="Aptos"/>
              </a:rPr>
              <a:t>17</a:t>
            </a:r>
            <a:endParaRPr sz="1600" b="0">
              <a:solidFill>
                <a:srgbClr val="A6B5C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960120"/>
            <a:ext cx="1069848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700" b="0">
                <a:solidFill>
                  <a:srgbClr val="ECF3FF"/>
                </a:solidFill>
                <a:latin typeface="Aptos"/>
              </a:rPr>
              <a:t>Метрики показывают, насколько часто каждая стратегия находит evidence-факт среди top-4 чанков.</a:t>
            </a:r>
            <a:endParaRPr sz="17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1600200"/>
            <a:ext cx="2834640" cy="475488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1636776"/>
            <a:ext cx="27797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200" b="1">
                <a:solidFill>
                  <a:srgbClr val="ECF3FF"/>
                </a:solidFill>
                <a:latin typeface="Aptos"/>
              </a:rPr>
              <a:t>Стратегия</a:t>
            </a:r>
            <a:endParaRPr sz="12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49039" y="1600200"/>
            <a:ext cx="1234440" cy="475488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1636776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1">
                <a:solidFill>
                  <a:srgbClr val="ECF3FF"/>
                </a:solidFill>
                <a:latin typeface="Aptos"/>
              </a:rPr>
              <a:t>Hits@4</a:t>
            </a:r>
            <a:endParaRPr sz="12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983479" y="1600200"/>
            <a:ext cx="1234440" cy="475488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1636776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1">
                <a:solidFill>
                  <a:srgbClr val="ECF3FF"/>
                </a:solidFill>
                <a:latin typeface="Aptos"/>
              </a:rPr>
              <a:t>MAP@4</a:t>
            </a:r>
            <a:endParaRPr sz="12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17919" y="1600200"/>
            <a:ext cx="1234440" cy="475488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1" y="1636776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1">
                <a:solidFill>
                  <a:srgbClr val="ECF3FF"/>
                </a:solidFill>
                <a:latin typeface="Aptos"/>
              </a:rPr>
              <a:t>MRR@4</a:t>
            </a:r>
            <a:endParaRPr sz="12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2075688"/>
            <a:ext cx="28346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2112264"/>
            <a:ext cx="27797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200" b="0">
                <a:solidFill>
                  <a:srgbClr val="DAE4F5"/>
                </a:solidFill>
                <a:latin typeface="Aptos"/>
              </a:rPr>
              <a:t>SemanticChunker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749039" y="2075688"/>
            <a:ext cx="1234440" cy="475488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76472" y="2112264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0.374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983479" y="2075688"/>
            <a:ext cx="1234440" cy="475488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10912" y="2112264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0.124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17919" y="2075688"/>
            <a:ext cx="12344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5351" y="2112264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0.246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14400" y="2551176"/>
            <a:ext cx="28346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" y="2587752"/>
            <a:ext cx="27797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200" b="0">
                <a:solidFill>
                  <a:srgbClr val="DAE4F5"/>
                </a:solidFill>
                <a:latin typeface="Aptos"/>
              </a:rPr>
              <a:t>RecursiveChunker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49039" y="2551176"/>
            <a:ext cx="12344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6472" y="2587752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0.363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983479" y="2551176"/>
            <a:ext cx="12344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10912" y="2587752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0.113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217919" y="2551176"/>
            <a:ext cx="1234440" cy="475488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1" y="2587752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0.257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14400" y="3026664"/>
            <a:ext cx="28346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" y="3063240"/>
            <a:ext cx="27797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200" b="0">
                <a:solidFill>
                  <a:srgbClr val="DAE4F5"/>
                </a:solidFill>
                <a:latin typeface="Aptos"/>
              </a:rPr>
              <a:t>NLTK sentence-based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749039" y="3026664"/>
            <a:ext cx="12344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76472" y="3063240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0.341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983479" y="3026664"/>
            <a:ext cx="12344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10912" y="3063240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0.100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217919" y="3026664"/>
            <a:ext cx="12344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1" y="3063240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0.212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14400" y="3502152"/>
            <a:ext cx="28346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" y="3538728"/>
            <a:ext cx="27797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200" b="0">
                <a:solidFill>
                  <a:srgbClr val="DAE4F5"/>
                </a:solidFill>
                <a:latin typeface="Aptos"/>
              </a:rPr>
              <a:t>FixedChunker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749039" y="3502152"/>
            <a:ext cx="12344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76472" y="3538728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0.330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983479" y="3502152"/>
            <a:ext cx="12344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3538728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0.085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217919" y="3502152"/>
            <a:ext cx="1234440" cy="475488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45351" y="3538728"/>
            <a:ext cx="1179576" cy="40233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200" b="0">
                <a:solidFill>
                  <a:srgbClr val="DAE4F5"/>
                </a:solidFill>
                <a:latin typeface="Aptos"/>
              </a:rPr>
              <a:t>0.195</a:t>
            </a:r>
            <a:endParaRPr sz="120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406640" y="1691640"/>
            <a:ext cx="3383280" cy="9144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35240" y="1856231"/>
            <a:ext cx="29718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700" b="1">
                <a:solidFill>
                  <a:srgbClr val="1EC9B9"/>
                </a:solidFill>
                <a:latin typeface="Aptos"/>
              </a:rPr>
              <a:t>SemanticChunker</a:t>
            </a:r>
            <a:endParaRPr sz="17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635240" y="2176272"/>
            <a:ext cx="29718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400" b="0">
                <a:solidFill>
                  <a:srgbClr val="ECF3FF"/>
                </a:solidFill>
                <a:latin typeface="Aptos"/>
              </a:rPr>
              <a:t>лучший Hits@4 и MAP@4</a:t>
            </a:r>
            <a:endParaRPr sz="14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406640" y="2788920"/>
            <a:ext cx="3383280" cy="9144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35240" y="2953512"/>
            <a:ext cx="29718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700" b="1">
                <a:solidFill>
                  <a:srgbClr val="1EC9B9"/>
                </a:solidFill>
                <a:latin typeface="Aptos"/>
              </a:rPr>
              <a:t>RecursiveChunker</a:t>
            </a:r>
            <a:endParaRPr sz="17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635240" y="3273552"/>
            <a:ext cx="29718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400" b="0">
                <a:solidFill>
                  <a:srgbClr val="ECF3FF"/>
                </a:solidFill>
                <a:latin typeface="Aptos"/>
              </a:rPr>
              <a:t>лучший MRR@4</a:t>
            </a:r>
            <a:endParaRPr sz="14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7406640" y="3886200"/>
            <a:ext cx="3383280" cy="91440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35240" y="4050791"/>
            <a:ext cx="29718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700" b="1">
                <a:solidFill>
                  <a:srgbClr val="A6B5CB"/>
                </a:solidFill>
                <a:latin typeface="Aptos"/>
              </a:rPr>
              <a:t>FixedChunker</a:t>
            </a:r>
            <a:endParaRPr sz="1700" b="1">
              <a:solidFill>
                <a:srgbClr val="A6B5CB"/>
              </a:solidFill>
              <a:latin typeface="Apto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635240" y="4370832"/>
            <a:ext cx="29718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400" b="0">
                <a:solidFill>
                  <a:srgbClr val="ECF3FF"/>
                </a:solidFill>
                <a:latin typeface="Aptos"/>
              </a:rPr>
              <a:t>baseline для сравнения</a:t>
            </a:r>
            <a:endParaRPr sz="14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960120" y="5257800"/>
            <a:ext cx="10241280" cy="621792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5840" y="5423535"/>
            <a:ext cx="9875520" cy="293370"/>
          </a:xfrm>
          <a:prstGeom prst="rect">
            <a:avLst/>
          </a:prstGeom>
          <a:noFill/>
        </p:spPr>
        <p:txBody>
          <a:bodyPr wrap="square" lIns="73152" rIns="73152">
            <a:normAutofit fontScale="80000"/>
          </a:bodyPr>
          <a:lstStyle/>
          <a:p>
            <a:pPr algn="ctr"/>
            <a:r>
              <a:rPr sz="1400" b="0">
                <a:solidFill>
                  <a:srgbClr val="ECF3FF"/>
                </a:solidFill>
                <a:latin typeface="Aptos"/>
              </a:rPr>
              <a:t>SemanticChunker чаще находит релевантный evidence-факт, а RecursiveChunker немного выше ранжирует первый релевантный chunk</a:t>
            </a:r>
            <a:endParaRPr sz="1400" b="0">
              <a:solidFill>
                <a:srgbClr val="ECF3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043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772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15544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23317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10896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388620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46634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54406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6725" y="62179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01168"/>
            <a:ext cx="9875520" cy="4114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2500" b="1">
                <a:solidFill>
                  <a:srgbClr val="ECF3FF"/>
                </a:solidFill>
                <a:latin typeface="Aptos"/>
              </a:rPr>
              <a:t>Интерпретация результатов</a:t>
            </a:r>
            <a:endParaRPr sz="2500" b="1">
              <a:solidFill>
                <a:srgbClr val="ECF3FF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02920" y="749808"/>
            <a:ext cx="11109960" cy="0"/>
          </a:xfrm>
          <a:prstGeom prst="line">
            <a:avLst/>
          </a:prstGeom>
          <a:ln w="12700">
            <a:solidFill>
              <a:srgbClr val="364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881360" y="201168"/>
            <a:ext cx="64008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r"/>
            <a:r>
              <a:rPr sz="1600" b="0">
                <a:solidFill>
                  <a:srgbClr val="A6B5CB"/>
                </a:solidFill>
                <a:latin typeface="Aptos"/>
              </a:rPr>
              <a:t>18</a:t>
            </a:r>
            <a:endParaRPr sz="1600" b="0">
              <a:solidFill>
                <a:srgbClr val="A6B5C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960120"/>
            <a:ext cx="1078992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700" b="0">
                <a:solidFill>
                  <a:srgbClr val="ECF3FF"/>
                </a:solidFill>
                <a:latin typeface="Aptos"/>
              </a:rPr>
              <a:t>Разные стратегии выигрывают по разным метрикам, поэтому качество чанкирования нужно оценивать экспериментально</a:t>
            </a:r>
            <a:endParaRPr sz="17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" y="1600200"/>
            <a:ext cx="5166360" cy="14173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1764792"/>
            <a:ext cx="475488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800" b="1">
                <a:solidFill>
                  <a:srgbClr val="1EC9B9"/>
                </a:solidFill>
                <a:latin typeface="Aptos"/>
              </a:rPr>
              <a:t>SemanticChunker</a:t>
            </a:r>
            <a:endParaRPr sz="18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7552" y="2167128"/>
            <a:ext cx="228600" cy="21945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1">
                <a:solidFill>
                  <a:srgbClr val="1EC9B9"/>
                </a:solidFill>
                <a:latin typeface="Aptos"/>
              </a:rPr>
              <a:t>+</a:t>
            </a:r>
            <a:endParaRPr sz="13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34440" y="2167128"/>
            <a:ext cx="443484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лучший Hits@4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7552" y="2441448"/>
            <a:ext cx="228600" cy="21945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1">
                <a:solidFill>
                  <a:srgbClr val="1EC9B9"/>
                </a:solidFill>
                <a:latin typeface="Aptos"/>
              </a:rPr>
              <a:t>+</a:t>
            </a:r>
            <a:endParaRPr sz="13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34440" y="2441448"/>
            <a:ext cx="443484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лучший MAP@4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7552" y="2715768"/>
            <a:ext cx="228600" cy="21945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1">
                <a:solidFill>
                  <a:srgbClr val="1EC9B9"/>
                </a:solidFill>
                <a:latin typeface="Aptos"/>
              </a:rPr>
              <a:t>+</a:t>
            </a:r>
            <a:endParaRPr sz="13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34440" y="2715768"/>
            <a:ext cx="443484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чаще находит хотя бы один evidence-факт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63640" y="1600200"/>
            <a:ext cx="5166360" cy="14173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764792"/>
            <a:ext cx="475488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800" b="1">
                <a:solidFill>
                  <a:srgbClr val="55E1A0"/>
                </a:solidFill>
                <a:latin typeface="Aptos"/>
              </a:rPr>
              <a:t>RecursiveChunker</a:t>
            </a:r>
            <a:endParaRPr sz="1800" b="1">
              <a:solidFill>
                <a:srgbClr val="55E1A0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19672" y="2167128"/>
            <a:ext cx="228600" cy="21945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1">
                <a:solidFill>
                  <a:srgbClr val="55E1A0"/>
                </a:solidFill>
                <a:latin typeface="Aptos"/>
              </a:rPr>
              <a:t>+</a:t>
            </a:r>
            <a:endParaRPr sz="1300" b="1">
              <a:solidFill>
                <a:srgbClr val="55E1A0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66559" y="2167128"/>
            <a:ext cx="443484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лучший MRR@4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19672" y="2441448"/>
            <a:ext cx="228600" cy="21945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1">
                <a:solidFill>
                  <a:srgbClr val="55E1A0"/>
                </a:solidFill>
                <a:latin typeface="Aptos"/>
              </a:rPr>
              <a:t>+</a:t>
            </a:r>
            <a:endParaRPr sz="1300" b="1">
              <a:solidFill>
                <a:srgbClr val="55E1A0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66559" y="2441448"/>
            <a:ext cx="443484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первый релевантный chunk выше в выдаче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31520" y="3429000"/>
            <a:ext cx="5166360" cy="14173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3593592"/>
            <a:ext cx="475488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800" b="1">
                <a:solidFill>
                  <a:srgbClr val="4C8BFF"/>
                </a:solidFill>
                <a:latin typeface="Aptos"/>
              </a:rPr>
              <a:t>NltkSemanticChunker</a:t>
            </a:r>
            <a:endParaRPr sz="1800" b="1">
              <a:solidFill>
                <a:srgbClr val="4C8BFF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7552" y="3995928"/>
            <a:ext cx="228600" cy="21945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1">
                <a:solidFill>
                  <a:srgbClr val="4C8BFF"/>
                </a:solidFill>
                <a:latin typeface="Aptos"/>
              </a:rPr>
              <a:t>+</a:t>
            </a:r>
            <a:endParaRPr sz="1300" b="1">
              <a:solidFill>
                <a:srgbClr val="4C8BFF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34440" y="3995928"/>
            <a:ext cx="443484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sentence-based baseline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87552" y="4270248"/>
            <a:ext cx="228600" cy="21945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1">
                <a:solidFill>
                  <a:srgbClr val="4C8BFF"/>
                </a:solidFill>
                <a:latin typeface="Aptos"/>
              </a:rPr>
              <a:t>+</a:t>
            </a:r>
            <a:endParaRPr sz="1300" b="1">
              <a:solidFill>
                <a:srgbClr val="4C8BFF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34440" y="4270248"/>
            <a:ext cx="443484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сохраняет предложения, но не ищет смысловые переходы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263640" y="3429000"/>
            <a:ext cx="5166360" cy="141732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593592"/>
            <a:ext cx="475488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800" b="1">
                <a:solidFill>
                  <a:srgbClr val="A6B5CB"/>
                </a:solidFill>
                <a:latin typeface="Aptos"/>
              </a:rPr>
              <a:t>FixedChunker</a:t>
            </a:r>
            <a:endParaRPr sz="1800" b="1">
              <a:solidFill>
                <a:srgbClr val="A6B5CB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19672" y="3995928"/>
            <a:ext cx="228600" cy="21945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1">
                <a:solidFill>
                  <a:srgbClr val="A6B5CB"/>
                </a:solidFill>
                <a:latin typeface="Aptos"/>
              </a:rPr>
              <a:t>+</a:t>
            </a:r>
            <a:endParaRPr sz="1300" b="1">
              <a:solidFill>
                <a:srgbClr val="A6B5C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66559" y="3995928"/>
            <a:ext cx="443484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простой baseline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9672" y="4270248"/>
            <a:ext cx="228600" cy="219456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1">
                <a:solidFill>
                  <a:srgbClr val="A6B5CB"/>
                </a:solidFill>
                <a:latin typeface="Aptos"/>
              </a:rPr>
              <a:t>+</a:t>
            </a:r>
            <a:endParaRPr sz="1300" b="1">
              <a:solidFill>
                <a:srgbClr val="A6B5CB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66559" y="4270248"/>
            <a:ext cx="443484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не учитывает структуру и смысловые границы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60120" y="5349240"/>
            <a:ext cx="10241280" cy="56692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5440680"/>
            <a:ext cx="9875520" cy="381000"/>
          </a:xfrm>
          <a:prstGeom prst="rect">
            <a:avLst/>
          </a:prstGeom>
          <a:noFill/>
        </p:spPr>
        <p:txBody>
          <a:bodyPr wrap="square" lIns="73152" rIns="73152">
            <a:normAutofit fontScale="90000"/>
          </a:bodyPr>
          <a:lstStyle/>
          <a:p>
            <a:pPr algn="ctr"/>
            <a:r>
              <a:rPr sz="1400" b="0">
                <a:solidFill>
                  <a:srgbClr val="ECF3FF"/>
                </a:solidFill>
                <a:latin typeface="Aptos"/>
              </a:rPr>
              <a:t>Semantic chunking полезен для точного поиска evidence-фактов, но итоговый выбор стратегии зависит от метрики и задачи</a:t>
            </a:r>
            <a:endParaRPr sz="1400" b="0">
              <a:solidFill>
                <a:srgbClr val="ECF3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043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772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15544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23317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10896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388620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46634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54406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62179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01168"/>
            <a:ext cx="9875520" cy="4114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2500" b="1">
                <a:solidFill>
                  <a:srgbClr val="ECF3FF"/>
                </a:solidFill>
                <a:latin typeface="Aptos"/>
              </a:rPr>
              <a:t>Результаты полного RAG-pipeline</a:t>
            </a:r>
            <a:endParaRPr sz="2500" b="1">
              <a:solidFill>
                <a:srgbClr val="ECF3FF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02920" y="749808"/>
            <a:ext cx="11109960" cy="0"/>
          </a:xfrm>
          <a:prstGeom prst="line">
            <a:avLst/>
          </a:prstGeom>
          <a:ln w="12700">
            <a:solidFill>
              <a:srgbClr val="364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881360" y="201168"/>
            <a:ext cx="64008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r"/>
            <a:r>
              <a:rPr sz="1600" b="0">
                <a:solidFill>
                  <a:srgbClr val="A6B5CB"/>
                </a:solidFill>
                <a:latin typeface="Aptos"/>
              </a:rPr>
              <a:t>19</a:t>
            </a:r>
            <a:endParaRPr sz="1600" b="0">
              <a:solidFill>
                <a:srgbClr val="A6B5C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932688"/>
            <a:ext cx="1069848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700" b="0">
                <a:solidFill>
                  <a:srgbClr val="ECF3FF"/>
                </a:solidFill>
                <a:latin typeface="Aptos"/>
              </a:rPr>
              <a:t>В полном RAG оцениваются два этапа: качество найденного контекста и качество итогового ответа</a:t>
            </a:r>
            <a:endParaRPr sz="17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1389888"/>
            <a:ext cx="425196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500" b="1">
                <a:solidFill>
                  <a:srgbClr val="ECF3FF"/>
                </a:solidFill>
                <a:latin typeface="Aptos"/>
              </a:rPr>
              <a:t>Retrieval quality</a:t>
            </a:r>
            <a:endParaRPr sz="15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31520" y="1783080"/>
            <a:ext cx="1508760" cy="420624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1819656"/>
            <a:ext cx="1453895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50" b="1">
                <a:solidFill>
                  <a:srgbClr val="ECF3FF"/>
                </a:solidFill>
                <a:latin typeface="Aptos"/>
              </a:rPr>
              <a:t>Стратегия</a:t>
            </a:r>
            <a:endParaRPr sz="105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40280" y="1783080"/>
            <a:ext cx="914400" cy="420624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67712" y="1819656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1">
                <a:solidFill>
                  <a:srgbClr val="ECF3FF"/>
                </a:solidFill>
                <a:latin typeface="Aptos"/>
              </a:rPr>
              <a:t>Hits@4</a:t>
            </a:r>
            <a:endParaRPr sz="105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154680" y="1783080"/>
            <a:ext cx="914400" cy="420624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82112" y="1819656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1">
                <a:solidFill>
                  <a:srgbClr val="ECF3FF"/>
                </a:solidFill>
                <a:latin typeface="Aptos"/>
              </a:rPr>
              <a:t>MAP@4</a:t>
            </a:r>
            <a:endParaRPr sz="105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069080" y="1783080"/>
            <a:ext cx="914400" cy="420624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96512" y="1819656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1">
                <a:solidFill>
                  <a:srgbClr val="ECF3FF"/>
                </a:solidFill>
                <a:latin typeface="Aptos"/>
              </a:rPr>
              <a:t>MRR@4</a:t>
            </a:r>
            <a:endParaRPr sz="105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31520" y="2203704"/>
            <a:ext cx="150876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2240280"/>
            <a:ext cx="1453895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50" b="0">
                <a:solidFill>
                  <a:srgbClr val="DAE4F5"/>
                </a:solidFill>
                <a:latin typeface="Aptos"/>
              </a:rPr>
              <a:t>fixed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40280" y="2203704"/>
            <a:ext cx="9144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67712" y="2240280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0.2093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54680" y="2203704"/>
            <a:ext cx="9144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82112" y="2240280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0.06177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069080" y="2203704"/>
            <a:ext cx="9144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96512" y="2240280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0.1569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1520" y="2624328"/>
            <a:ext cx="150876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" y="2660904"/>
            <a:ext cx="1453895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50" b="0">
                <a:solidFill>
                  <a:srgbClr val="DAE4F5"/>
                </a:solidFill>
                <a:latin typeface="Aptos"/>
              </a:rPr>
              <a:t>semantic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240280" y="2624328"/>
            <a:ext cx="9144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67712" y="2660904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0.4128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154680" y="2624328"/>
            <a:ext cx="9144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82112" y="2660904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0.1215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069080" y="2624328"/>
            <a:ext cx="9144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96512" y="2660904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0.2588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31520" y="3044952"/>
            <a:ext cx="150876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" y="3081528"/>
            <a:ext cx="1453895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50" b="0">
                <a:solidFill>
                  <a:srgbClr val="DAE4F5"/>
                </a:solidFill>
                <a:latin typeface="Aptos"/>
              </a:rPr>
              <a:t>recursive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240280" y="3044952"/>
            <a:ext cx="914400" cy="420624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67712" y="3081528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0.4477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154680" y="3044952"/>
            <a:ext cx="914400" cy="420624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82112" y="3081528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0.1315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069080" y="3044952"/>
            <a:ext cx="914400" cy="420624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96512" y="3081528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0.3067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31520" y="3465576"/>
            <a:ext cx="150876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" y="3502152"/>
            <a:ext cx="1453895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50" b="0">
                <a:solidFill>
                  <a:srgbClr val="DAE4F5"/>
                </a:solidFill>
                <a:latin typeface="Aptos"/>
              </a:rPr>
              <a:t>sentence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240280" y="3465576"/>
            <a:ext cx="9144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67712" y="3502152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0.401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154680" y="3465576"/>
            <a:ext cx="9144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82112" y="3502152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0.1139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069080" y="3465576"/>
            <a:ext cx="9144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96512" y="3502152"/>
            <a:ext cx="8595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50" b="0">
                <a:solidFill>
                  <a:srgbClr val="DAE4F5"/>
                </a:solidFill>
                <a:latin typeface="Aptos"/>
              </a:rPr>
              <a:t>0.2470</a:t>
            </a:r>
            <a:endParaRPr sz="105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15000" y="1389888"/>
            <a:ext cx="443484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500" b="1">
                <a:solidFill>
                  <a:srgbClr val="ECF3FF"/>
                </a:solidFill>
                <a:latin typeface="Aptos"/>
              </a:rPr>
              <a:t>QA quality</a:t>
            </a:r>
            <a:endParaRPr sz="150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715000" y="1783080"/>
            <a:ext cx="1417320" cy="420624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42432" y="1819656"/>
            <a:ext cx="136245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30" b="1">
                <a:solidFill>
                  <a:srgbClr val="ECF3FF"/>
                </a:solidFill>
                <a:latin typeface="Aptos"/>
              </a:rPr>
              <a:t>Стратегия</a:t>
            </a:r>
            <a:endParaRPr sz="103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132320" y="1783080"/>
            <a:ext cx="777240" cy="420624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59752" y="1819656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1">
                <a:solidFill>
                  <a:srgbClr val="ECF3FF"/>
                </a:solidFill>
                <a:latin typeface="Aptos"/>
              </a:rPr>
              <a:t>Prec.</a:t>
            </a:r>
            <a:endParaRPr sz="103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7909560" y="1783080"/>
            <a:ext cx="777240" cy="420624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36992" y="1819656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1">
                <a:solidFill>
                  <a:srgbClr val="ECF3FF"/>
                </a:solidFill>
                <a:latin typeface="Aptos"/>
              </a:rPr>
              <a:t>Recall</a:t>
            </a:r>
            <a:endParaRPr sz="103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686800" y="1783080"/>
            <a:ext cx="685800" cy="420624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14232" y="1819656"/>
            <a:ext cx="6309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1">
                <a:solidFill>
                  <a:srgbClr val="ECF3FF"/>
                </a:solidFill>
                <a:latin typeface="Aptos"/>
              </a:rPr>
              <a:t>F1</a:t>
            </a:r>
            <a:endParaRPr sz="103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372600" y="1783080"/>
            <a:ext cx="777240" cy="420624"/>
          </a:xfrm>
          <a:prstGeom prst="rect">
            <a:avLst/>
          </a:prstGeom>
          <a:solidFill>
            <a:srgbClr val="18263E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00032" y="1819656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1">
                <a:solidFill>
                  <a:srgbClr val="ECF3FF"/>
                </a:solidFill>
                <a:latin typeface="Aptos"/>
              </a:rPr>
              <a:t>Acc.</a:t>
            </a:r>
            <a:endParaRPr sz="1030" b="1">
              <a:solidFill>
                <a:srgbClr val="ECF3FF"/>
              </a:solidFill>
              <a:latin typeface="Apto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5715000" y="2203704"/>
            <a:ext cx="141732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42432" y="2240280"/>
            <a:ext cx="136245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30" b="0">
                <a:solidFill>
                  <a:srgbClr val="DAE4F5"/>
                </a:solidFill>
                <a:latin typeface="Aptos"/>
              </a:rPr>
              <a:t>fixed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7132320" y="2203704"/>
            <a:ext cx="77724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59752" y="2240280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0.485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909560" y="2203704"/>
            <a:ext cx="77724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36992" y="2240280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0.485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686800" y="2203704"/>
            <a:ext cx="6858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714232" y="2240280"/>
            <a:ext cx="6309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0.485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372600" y="2203704"/>
            <a:ext cx="77724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00032" y="2240280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0.4926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715000" y="2624328"/>
            <a:ext cx="141732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742432" y="2660904"/>
            <a:ext cx="136245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30" b="0">
                <a:solidFill>
                  <a:srgbClr val="DAE4F5"/>
                </a:solidFill>
                <a:latin typeface="Aptos"/>
              </a:rPr>
              <a:t>semantic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132320" y="2624328"/>
            <a:ext cx="77724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59752" y="2660904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0.51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7909560" y="2624328"/>
            <a:ext cx="77724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936992" y="2660904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0.51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686800" y="2624328"/>
            <a:ext cx="6858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714232" y="2660904"/>
            <a:ext cx="6309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0.51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9372600" y="2624328"/>
            <a:ext cx="77724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00032" y="2660904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0.5050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715000" y="3044952"/>
            <a:ext cx="141732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42432" y="3081528"/>
            <a:ext cx="136245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30" b="0">
                <a:solidFill>
                  <a:srgbClr val="DAE4F5"/>
                </a:solidFill>
                <a:latin typeface="Aptos"/>
              </a:rPr>
              <a:t>recursive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7132320" y="3044952"/>
            <a:ext cx="777240" cy="420624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59752" y="3081528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0.585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7909560" y="3044952"/>
            <a:ext cx="777240" cy="420624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936992" y="3081528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0.585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686800" y="3044952"/>
            <a:ext cx="685800" cy="420624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714232" y="3081528"/>
            <a:ext cx="6309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0.585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9372600" y="3044952"/>
            <a:ext cx="777240" cy="420624"/>
          </a:xfrm>
          <a:prstGeom prst="rect">
            <a:avLst/>
          </a:prstGeom>
          <a:solidFill>
            <a:srgbClr val="1A4B44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00032" y="3081528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0.5464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715000" y="3465576"/>
            <a:ext cx="141732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42432" y="3502152"/>
            <a:ext cx="136245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030" b="0">
                <a:solidFill>
                  <a:srgbClr val="DAE4F5"/>
                </a:solidFill>
                <a:latin typeface="Aptos"/>
              </a:rPr>
              <a:t>sentence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7132320" y="3465576"/>
            <a:ext cx="77724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59752" y="3502152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0.540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7909560" y="3465576"/>
            <a:ext cx="77724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936992" y="3502152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0.54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8686800" y="3465576"/>
            <a:ext cx="68580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714232" y="3502152"/>
            <a:ext cx="63093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0.54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9372600" y="3465576"/>
            <a:ext cx="777240" cy="420624"/>
          </a:xfrm>
          <a:prstGeom prst="rect">
            <a:avLst/>
          </a:prstGeom>
          <a:solidFill>
            <a:srgbClr val="141E30"/>
          </a:solidFill>
          <a:ln w="1016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00032" y="3502152"/>
            <a:ext cx="722376" cy="347472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030" b="0">
                <a:solidFill>
                  <a:srgbClr val="DAE4F5"/>
                </a:solidFill>
                <a:latin typeface="Aptos"/>
              </a:rPr>
              <a:t>0.5208</a:t>
            </a:r>
            <a:endParaRPr sz="1030" b="0">
              <a:solidFill>
                <a:srgbClr val="DAE4F5"/>
              </a:solidFill>
              <a:latin typeface="Aptos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822960" y="5074920"/>
            <a:ext cx="10607040" cy="777240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51560" y="5239512"/>
            <a:ext cx="10149840" cy="329184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500" b="0">
                <a:solidFill>
                  <a:srgbClr val="ECF3FF"/>
                </a:solidFill>
                <a:latin typeface="Aptos"/>
              </a:rPr>
              <a:t>В основном эксперименте лучший результат показал RecursiveChunker: он лидирует по всем retrieval-метрикам и по метрикам качества ответов</a:t>
            </a:r>
            <a:endParaRPr sz="1500" b="0">
              <a:solidFill>
                <a:srgbClr val="ECF3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315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9260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0233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206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2179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50976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0704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04320" y="365760"/>
            <a:ext cx="0" cy="612648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" y="7772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" y="15544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" y="23317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" y="310896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" y="388620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466344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" y="544068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" y="6217920"/>
            <a:ext cx="11247120" cy="0"/>
          </a:xfrm>
          <a:prstGeom prst="line">
            <a:avLst/>
          </a:prstGeom>
          <a:ln w="5080">
            <a:solidFill>
              <a:srgbClr val="1F2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01168"/>
            <a:ext cx="9875520" cy="4114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2500" b="1">
                <a:solidFill>
                  <a:srgbClr val="ECF3FF"/>
                </a:solidFill>
                <a:latin typeface="Aptos"/>
              </a:rPr>
              <a:t>Итоговые выводы</a:t>
            </a:r>
            <a:endParaRPr sz="2500" b="1">
              <a:solidFill>
                <a:srgbClr val="ECF3FF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02920" y="749808"/>
            <a:ext cx="11109960" cy="0"/>
          </a:xfrm>
          <a:prstGeom prst="line">
            <a:avLst/>
          </a:prstGeom>
          <a:ln w="12700">
            <a:solidFill>
              <a:srgbClr val="364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881360" y="201168"/>
            <a:ext cx="640080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r"/>
            <a:r>
              <a:rPr sz="1600" b="0">
                <a:solidFill>
                  <a:srgbClr val="A6B5CB"/>
                </a:solidFill>
                <a:latin typeface="Aptos"/>
              </a:rPr>
              <a:t>20</a:t>
            </a:r>
            <a:endParaRPr sz="1600" b="0">
              <a:solidFill>
                <a:srgbClr val="A6B5CB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960120"/>
            <a:ext cx="5166360" cy="443484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1103757"/>
            <a:ext cx="470916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800" b="1">
                <a:solidFill>
                  <a:srgbClr val="1EC9B9"/>
                </a:solidFill>
                <a:latin typeface="Aptos"/>
              </a:rPr>
              <a:t>В проекте сравниваются четыре подхода</a:t>
            </a:r>
            <a:endParaRPr sz="18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16152" y="1783207"/>
            <a:ext cx="4407407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FixedChunker — механическое разбиение по размеру.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6152" y="2171954"/>
            <a:ext cx="4407407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RecursiveChunker — структурное разбиение по разделителям.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88847" y="2807081"/>
            <a:ext cx="4407407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NltkSemanticChunker — sentence-based подход без embeddings.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0120" y="2670048"/>
            <a:ext cx="2286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endParaRPr sz="13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88847" y="3410458"/>
            <a:ext cx="4407407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SemanticChunker — embedding-based разбиение по смысловым переходам.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63640" y="960120"/>
            <a:ext cx="5166360" cy="4434840"/>
          </a:xfrm>
          <a:prstGeom prst="roundRect">
            <a:avLst/>
          </a:prstGeom>
          <a:solidFill>
            <a:srgbClr val="18263E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170432"/>
            <a:ext cx="4709160" cy="2743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800" b="1">
                <a:solidFill>
                  <a:srgbClr val="1EC9B9"/>
                </a:solidFill>
                <a:latin typeface="Aptos"/>
              </a:rPr>
              <a:t>Итог по экспериментам</a:t>
            </a:r>
            <a:endParaRPr sz="18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92240" y="1627632"/>
            <a:ext cx="2286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endParaRPr sz="13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48272" y="1627632"/>
            <a:ext cx="4407407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В полном RAG-pipeline лучший общий результат показал RecursiveChunker.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92240" y="1975104"/>
            <a:ext cx="22860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endParaRPr sz="1300" b="1">
              <a:solidFill>
                <a:srgbClr val="1EC9B9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57162" y="2203704"/>
            <a:ext cx="4407407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В отдельной строгой retrieval-проверке embedding-based SemanticChunker показал лучший Hits@4 и MAP@4.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57162" y="2948686"/>
            <a:ext cx="4407407" cy="3200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l"/>
            <a:r>
              <a:rPr sz="1300" b="0">
                <a:solidFill>
                  <a:srgbClr val="ECF3FF"/>
                </a:solidFill>
                <a:latin typeface="Aptos"/>
              </a:rPr>
              <a:t>RecursiveChunker показал лучший MRR@4.</a:t>
            </a:r>
            <a:endParaRPr sz="1300" b="0">
              <a:solidFill>
                <a:srgbClr val="ECF3FF"/>
              </a:solidFill>
              <a:latin typeface="Aptos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60120" y="5596128"/>
            <a:ext cx="10241280" cy="566928"/>
          </a:xfrm>
          <a:prstGeom prst="roundRect">
            <a:avLst/>
          </a:prstGeom>
          <a:solidFill>
            <a:srgbClr val="141E30"/>
          </a:solidFill>
          <a:ln w="12700">
            <a:solidFill>
              <a:srgbClr val="36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692013"/>
            <a:ext cx="9875520" cy="22860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400" b="0">
                <a:solidFill>
                  <a:srgbClr val="ECF3FF"/>
                </a:solidFill>
                <a:latin typeface="Aptos"/>
              </a:rPr>
              <a:t>Одна стратегия не является лучшей для всех метрик: выбор chunker-класса зависит от задачи, скорости работы и способа оценки</a:t>
            </a:r>
            <a:endParaRPr sz="1400" b="0">
              <a:solidFill>
                <a:srgbClr val="ECF3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9167</Words>
  <Application>WPS Presentation</Application>
  <PresentationFormat/>
  <Paragraphs>708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SimSun</vt:lpstr>
      <vt:lpstr>Wingdings</vt:lpstr>
      <vt:lpstr>Aptos Display</vt:lpstr>
      <vt:lpstr>Segoe UI Variable Display</vt:lpstr>
      <vt:lpstr>Aptos Display</vt:lpstr>
      <vt:lpstr>Aptos Display</vt:lpstr>
      <vt:lpstr>Aptos</vt:lpstr>
      <vt:lpstr>Aptos</vt:lpstr>
      <vt:lpstr>Aptos</vt:lpstr>
      <vt:lpstr>Cascadia Mono</vt:lpstr>
      <vt:lpstr>Cascadia Mono</vt:lpstr>
      <vt:lpstr>Cascadia Mono</vt:lpstr>
      <vt:lpstr>Aptos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Мария Крупенина</cp:lastModifiedBy>
  <cp:revision>3</cp:revision>
  <dcterms:created xsi:type="dcterms:W3CDTF">2026-06-07T16:52:46Z</dcterms:created>
  <dcterms:modified xsi:type="dcterms:W3CDTF">2026-06-07T16:54:43Z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38BCCBACCD4F4D9085E07626DCFED3A9_13</vt:lpwstr>
  </property>
</Properties>
</file>